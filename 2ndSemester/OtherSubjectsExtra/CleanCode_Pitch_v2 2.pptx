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947AA17-C6B1-46CE-81F8-ACD8BE88193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4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B3864E-B256-4C9D-9793-AC161ADD4E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5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AEB0DB-FC47-4696-93AE-75B38F6266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6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A04296-A8A2-4874-82E5-3FB80BF77C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7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755207-DF14-444A-A8A6-43AF4CE703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7200" y="365760"/>
            <a:ext cx="1828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800" b="1" u="none" strike="noStrike">
                <a:solidFill>
                  <a:srgbClr val="00c2cb"/>
                </a:solidFill>
                <a:effectLst/>
                <a:uFillTx/>
                <a:latin typeface="Consolas"/>
                <a:ea typeface="Consolas"/>
              </a:rPr>
              <a:t>{ }</a:t>
            </a:r>
            <a:endParaRPr lang="en-US" sz="5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" y="1280160"/>
            <a:ext cx="6400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CleanCode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2148840"/>
            <a:ext cx="6857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900" b="0" i="1" u="none" strike="noStrike">
                <a:solidFill>
                  <a:srgbClr val="00c2cb"/>
                </a:solidFill>
                <a:effectLst/>
                <a:uFillTx/>
                <a:latin typeface="Calibri"/>
                <a:ea typeface="Calibri"/>
              </a:rPr>
              <a:t>One team. One Style. Every Save.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457200" y="2926080"/>
            <a:ext cx="2194200" cy="456840"/>
          </a:xfrm>
          <a:prstGeom prst="rect">
            <a:avLst/>
          </a:prstGeom>
          <a:solidFill>
            <a:srgbClr val="152232"/>
          </a:solidFill>
          <a:ln w="12700">
            <a:solidFill>
              <a:srgbClr val="007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292608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8fa3b1"/>
                </a:solidFill>
                <a:effectLst/>
                <a:uFillTx/>
                <a:latin typeface="Calibri"/>
                <a:ea typeface="Calibri"/>
              </a:rPr>
              <a:t>              Farhan  + Faraz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0" y="4846320"/>
            <a:ext cx="9143640" cy="18000"/>
          </a:xfrm>
          <a:prstGeom prst="rect">
            <a:avLst/>
          </a:prstGeom>
          <a:solidFill>
            <a:srgbClr val="007a82"/>
          </a:solidFill>
          <a:ln w="12700">
            <a:solidFill>
              <a:srgbClr val="007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457200" y="4873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8fa3b1"/>
                </a:solidFill>
                <a:effectLst/>
                <a:uFillTx/>
                <a:latin typeface="Calibri"/>
                <a:ea typeface="Calibri"/>
              </a:rPr>
              <a:t>Automated code style standardization : built for student teams &amp; finals season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457200" y="3594600"/>
            <a:ext cx="2194200" cy="456840"/>
          </a:xfrm>
          <a:prstGeom prst="rect">
            <a:avLst/>
          </a:prstGeom>
          <a:solidFill>
            <a:srgbClr val="152232"/>
          </a:solidFill>
          <a:ln w="12700">
            <a:solidFill>
              <a:srgbClr val="007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457200" y="359460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8fa3b1"/>
                </a:solidFill>
                <a:effectLst/>
                <a:uFillTx/>
                <a:latin typeface="Calibri"/>
                <a:ea typeface="Calibri"/>
              </a:rPr>
              <a:t>          25K-0538 + 25K-0780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3640" cy="1641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57200" y="1126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 Problem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457200" y="50688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i="1" u="none" strike="noStrike">
                <a:solidFill>
                  <a:srgbClr val="00c2cb"/>
                </a:solidFill>
                <a:effectLst/>
                <a:uFillTx/>
                <a:latin typeface="Calibri"/>
                <a:ea typeface="Calibri"/>
              </a:rPr>
              <a:t>Same project. Two teammates. Completely different code styles.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177120" y="873000"/>
            <a:ext cx="8827200" cy="401040"/>
          </a:xfrm>
          <a:prstGeom prst="rect">
            <a:avLst/>
          </a:prstGeom>
          <a:solidFill>
            <a:srgbClr val="553333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Text 4"/>
          <p:cNvSpPr/>
          <p:nvPr/>
        </p:nvSpPr>
        <p:spPr>
          <a:xfrm>
            <a:off x="-92160" y="-62568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300" b="1" u="none" strike="noStrike">
              <a:solidFill>
                <a:srgbClr val="ffff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177120" y="1166400"/>
            <a:ext cx="8827200" cy="1442520"/>
          </a:xfrm>
          <a:prstGeom prst="rect">
            <a:avLst/>
          </a:prstGeom>
          <a:solidFill>
            <a:srgbClr val="0a1520"/>
          </a:solidFill>
          <a:ln w="12700">
            <a:solidFill>
              <a:srgbClr val="55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160920" y="3137400"/>
            <a:ext cx="8827200" cy="303840"/>
          </a:xfrm>
          <a:prstGeom prst="rect">
            <a:avLst/>
          </a:prstGeom>
          <a:solidFill>
            <a:srgbClr val="1a3322"/>
          </a:solidFill>
          <a:ln w="12700">
            <a:solidFill>
              <a:srgbClr val="3a7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Text 8"/>
          <p:cNvSpPr/>
          <p:nvPr/>
        </p:nvSpPr>
        <p:spPr>
          <a:xfrm>
            <a:off x="4959360" y="91620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300" b="1" u="none" strike="noStrike">
              <a:solidFill>
                <a:srgbClr val="ffff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8" name="Shape 9"/>
          <p:cNvSpPr/>
          <p:nvPr/>
        </p:nvSpPr>
        <p:spPr>
          <a:xfrm>
            <a:off x="160920" y="3441600"/>
            <a:ext cx="8827200" cy="1701360"/>
          </a:xfrm>
          <a:prstGeom prst="rect">
            <a:avLst/>
          </a:prstGeom>
          <a:solidFill>
            <a:srgbClr val="0a1520"/>
          </a:solidFill>
          <a:ln w="12700">
            <a:solidFill>
              <a:srgbClr val="1a33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Shape 11"/>
          <p:cNvSpPr/>
          <p:nvPr/>
        </p:nvSpPr>
        <p:spPr>
          <a:xfrm>
            <a:off x="4324680" y="2660040"/>
            <a:ext cx="391680" cy="37008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4324680" y="2660040"/>
            <a:ext cx="39168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VS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" name="Picture 17" descr="A black rectangle with white text&#10;&#10;AI-generated content may be incorrect."/>
          <p:cNvPicPr/>
          <p:nvPr/>
        </p:nvPicPr>
        <p:blipFill>
          <a:blip r:embed="rId1"/>
          <a:stretch/>
        </p:blipFill>
        <p:spPr>
          <a:xfrm>
            <a:off x="280440" y="3488040"/>
            <a:ext cx="8593560" cy="160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Picture 19" descr="A black screen with white text&#10;&#10;AI-generated content may be incorrect."/>
          <p:cNvPicPr/>
          <p:nvPr/>
        </p:nvPicPr>
        <p:blipFill>
          <a:blip r:embed="rId2"/>
          <a:stretch/>
        </p:blipFill>
        <p:spPr>
          <a:xfrm>
            <a:off x="291240" y="1211040"/>
            <a:ext cx="8593560" cy="134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Box 7"/>
          <p:cNvSpPr/>
          <p:nvPr/>
        </p:nvSpPr>
        <p:spPr>
          <a:xfrm>
            <a:off x="1012320" y="833760"/>
            <a:ext cx="7160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Your code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Box 11"/>
          <p:cNvSpPr/>
          <p:nvPr/>
        </p:nvSpPr>
        <p:spPr>
          <a:xfrm>
            <a:off x="995760" y="3075480"/>
            <a:ext cx="72424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Your friend's code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9143640" cy="1641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Text 1"/>
          <p:cNvSpPr/>
          <p:nvPr/>
        </p:nvSpPr>
        <p:spPr>
          <a:xfrm>
            <a:off x="392400" y="802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After CleanCode -&gt; One Style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392400" y="5716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00c2cb"/>
                </a:solidFill>
                <a:effectLst/>
                <a:uFillTx/>
                <a:latin typeface="Calibri"/>
                <a:ea typeface="Calibri"/>
              </a:rPr>
              <a:t>Both teammates' code now looks identical -&gt; automatically, on every save.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3"/>
          <p:cNvSpPr/>
          <p:nvPr/>
        </p:nvSpPr>
        <p:spPr>
          <a:xfrm>
            <a:off x="80280" y="931680"/>
            <a:ext cx="4179600" cy="393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Text 4"/>
          <p:cNvSpPr/>
          <p:nvPr/>
        </p:nvSpPr>
        <p:spPr>
          <a:xfrm>
            <a:off x="80280" y="931680"/>
            <a:ext cx="417960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❌  BEFORE  (Friend)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80280" y="1261080"/>
            <a:ext cx="4179600" cy="3817440"/>
          </a:xfrm>
          <a:prstGeom prst="rect">
            <a:avLst/>
          </a:prstGeom>
          <a:solidFill>
            <a:srgbClr val="0a1520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Text 7"/>
          <p:cNvSpPr/>
          <p:nvPr/>
        </p:nvSpPr>
        <p:spPr>
          <a:xfrm>
            <a:off x="4101120" y="2743200"/>
            <a:ext cx="648000" cy="53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0c2cb"/>
                </a:solidFill>
                <a:effectLst/>
                <a:uFillTx/>
                <a:latin typeface="Calibri"/>
              </a:rPr>
              <a:t>→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8"/>
          <p:cNvSpPr/>
          <p:nvPr/>
        </p:nvSpPr>
        <p:spPr>
          <a:xfrm>
            <a:off x="4582080" y="910440"/>
            <a:ext cx="4546080" cy="3826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Text 9"/>
          <p:cNvSpPr/>
          <p:nvPr/>
        </p:nvSpPr>
        <p:spPr>
          <a:xfrm>
            <a:off x="4582080" y="910440"/>
            <a:ext cx="45460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✅  AFTER  (Both)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0"/>
          <p:cNvSpPr/>
          <p:nvPr/>
        </p:nvSpPr>
        <p:spPr>
          <a:xfrm>
            <a:off x="4582080" y="1239480"/>
            <a:ext cx="4546080" cy="3838680"/>
          </a:xfrm>
          <a:prstGeom prst="rect">
            <a:avLst/>
          </a:prstGeom>
          <a:solidFill>
            <a:srgbClr val="0a1520"/>
          </a:solidFill>
          <a:ln w="127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5" name="Picture 13" descr="A screen shot of a computer program&#10;&#10;AI-generated content may be incorrect."/>
          <p:cNvPicPr/>
          <p:nvPr/>
        </p:nvPicPr>
        <p:blipFill>
          <a:blip r:embed="rId1"/>
          <a:stretch/>
        </p:blipFill>
        <p:spPr>
          <a:xfrm>
            <a:off x="81720" y="1294920"/>
            <a:ext cx="4192200" cy="377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Picture 14" descr="A screen shot of a computer program&#10;&#10;AI-generated content may be incorrect."/>
          <p:cNvPicPr/>
          <p:nvPr/>
        </p:nvPicPr>
        <p:blipFill>
          <a:blip r:embed="rId2"/>
          <a:stretch/>
        </p:blipFill>
        <p:spPr>
          <a:xfrm>
            <a:off x="4572000" y="1297800"/>
            <a:ext cx="4564080" cy="376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c2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0" y="0"/>
            <a:ext cx="9143640" cy="338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365760" y="182880"/>
            <a:ext cx="1645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000" b="1" u="none" strike="noStrike">
                <a:solidFill>
                  <a:srgbClr val="00c2cb"/>
                </a:solidFill>
                <a:effectLst/>
                <a:uFillTx/>
                <a:latin typeface="Consolas"/>
                <a:ea typeface="Consolas"/>
              </a:rPr>
              <a:t>{ }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365760" y="914400"/>
            <a:ext cx="7314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Write code together.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Not just side by side.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365760" y="24688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0" i="1" u="none" strike="noStrike">
                <a:solidFill>
                  <a:srgbClr val="8fa3b1"/>
                </a:solidFill>
                <a:effectLst/>
                <a:uFillTx/>
                <a:latin typeface="Calibri"/>
                <a:ea typeface="Calibri"/>
              </a:rPr>
              <a:t>"CleanCode. One team. One style. Every save."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365760" y="35661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If you ever worked on a group project and felt this frustration, CleanCode was built for you.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365760" y="425196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  Set up in 2 minutes  ·    Works on any C++ project  ·    Runs on every save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LibreOffice/25.8.5.2$Linux_X86_64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2026-04-01T15:03:56Z</dcterms:created>
  <dc:creator>PptxGenJS</dc:creator>
  <dc:description/>
  <dc:language>en-US</dc:language>
  <cp:lastModifiedBy/>
  <dcterms:modified xsi:type="dcterms:W3CDTF">2026-04-01T21:52:11Z</dcterms:modified>
  <cp:revision>204</cp:revision>
  <dc:subject>PptxGenJS Presentation</dc:subject>
  <dc:title>CleanCode Pitch v2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On-screen Show (16:9)</vt:lpwstr>
  </property>
  <property fmtid="{D5CDD505-2E9C-101B-9397-08002B2CF9AE}" pid="4" name="Slides">
    <vt:i4>4</vt:i4>
  </property>
</Properties>
</file>