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325"/>
    <a:srgbClr val="161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7EDD5-DE77-4D2B-86EB-5C113308AEF6}" v="14" dt="2026-03-01T15:04:18.474"/>
    <p1510:client id="{9EA738EA-D8CF-439F-AFFB-A323B0AE1BD7}" v="123" dt="2026-03-01T15:02:05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Attacks (millions)</c:v>
                </c:pt>
              </c:strCache>
            </c:strRef>
          </c:tx>
          <c:spPr>
            <a:solidFill>
              <a:srgbClr val="5B21B6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9D-4870-848D-E18B8F608783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79D-4870-848D-E18B8F608783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479D-4870-848D-E18B8F608783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479D-4870-848D-E18B8F608783}"/>
              </c:ext>
            </c:extLst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479D-4870-848D-E18B8F608783}"/>
              </c:ext>
            </c:extLst>
          </c:dPt>
          <c:dLbls>
            <c:dLbl>
              <c:idx val="0"/>
              <c:numFmt formatCode="#,##0" sourceLinked="0"/>
              <c:spPr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9D-4870-848D-E18B8F608783}"/>
                </c:ext>
              </c:extLst>
            </c:dLbl>
            <c:dLbl>
              <c:idx val="1"/>
              <c:numFmt formatCode="#,##0" sourceLinked="0"/>
              <c:spPr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9D-4870-848D-E18B8F608783}"/>
                </c:ext>
              </c:extLst>
            </c:dLbl>
            <c:dLbl>
              <c:idx val="2"/>
              <c:numFmt formatCode="#,##0" sourceLinked="0"/>
              <c:spPr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9D-4870-848D-E18B8F608783}"/>
                </c:ext>
              </c:extLst>
            </c:dLbl>
            <c:dLbl>
              <c:idx val="3"/>
              <c:numFmt formatCode="#,##0" sourceLinked="0"/>
              <c:spPr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9D-4870-848D-E18B8F608783}"/>
                </c:ext>
              </c:extLst>
            </c:dLbl>
            <c:dLbl>
              <c:idx val="4"/>
              <c:numFmt formatCode="#,##0" sourceLinked="0"/>
              <c:spPr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9D-4870-848D-E18B8F60878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00" b="1" u="none" strike="noStrike">
                    <a:solidFill>
                      <a:srgbClr val="FFFFFF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4.83</c:v>
                </c:pt>
                <c:pt idx="1">
                  <c:v>6.09</c:v>
                </c:pt>
                <c:pt idx="2">
                  <c:v>7.74</c:v>
                </c:pt>
                <c:pt idx="3">
                  <c:v>8.16</c:v>
                </c:pt>
                <c:pt idx="4">
                  <c:v>9.44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9D-4870-848D-E18B8F6087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183561"/>
        <c:axId val="38095669"/>
      </c:barChart>
      <c:catAx>
        <c:axId val="4918356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0AAC0"/>
                </a:solidFill>
                <a:uFillTx/>
                <a:latin typeface="Arial"/>
              </a:defRPr>
            </a:pPr>
            <a:endParaRPr lang="en-US"/>
          </a:p>
        </c:txPr>
        <c:crossAx val="38095669"/>
        <c:crosses val="autoZero"/>
        <c:auto val="1"/>
        <c:lblAlgn val="ctr"/>
        <c:lblOffset val="100"/>
        <c:noMultiLvlLbl val="0"/>
      </c:catAx>
      <c:valAx>
        <c:axId val="38095669"/>
        <c:scaling>
          <c:orientation val="minMax"/>
          <c:min val="0"/>
        </c:scaling>
        <c:delete val="0"/>
        <c:axPos val="l"/>
        <c:majorGridlines>
          <c:spPr>
            <a:ln w="6480">
              <a:solidFill>
                <a:srgbClr val="1E3A4F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0AAC0"/>
                </a:solidFill>
                <a:uFillTx/>
                <a:latin typeface="Arial"/>
              </a:defRPr>
            </a:pPr>
            <a:endParaRPr lang="en-US"/>
          </a:p>
        </c:txPr>
        <c:crossAx val="49183561"/>
        <c:crosses val="autoZero"/>
        <c:crossBetween val="between"/>
      </c:valAx>
      <c:spPr>
        <a:solidFill>
          <a:srgbClr val="0D1B2A"/>
        </a:solidFill>
        <a:ln w="0">
          <a:noFill/>
        </a:ln>
      </c:spPr>
    </c:plotArea>
    <c:plotVisOnly val="1"/>
    <c:dispBlanksAs val="span"/>
    <c:showDLblsOverMax val="1"/>
  </c:chart>
  <c:spPr>
    <a:solidFill>
      <a:srgbClr val="0D1B2A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A6E227-27C3-4EFC-9545-FB25067029C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981A3A-19DE-402C-8EE1-D4D5EBD9D2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DB5992-D5BF-4693-A9C8-E097E6767D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AFB120-3232-4DA5-BC08-C98A8CBC57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F41A69-468B-4705-A7B8-E18A85FE2A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ACEEA7-E940-42FD-A776-486E8235EC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76C173D-5D9D-41A6-98B9-1959594B1F9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8F8323-E4D1-4CB9-B996-050DF32E10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7F27694-CE90-4DEC-A89B-B2A381990F4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D9AA685-C46C-476C-BE08-A40485DE96B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454A9F-F853-4B59-A489-CCB9C57609B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A50E36-955B-4890-830F-E4B1A6FA1E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2"/>
          <p:cNvSpPr/>
          <p:nvPr/>
        </p:nvSpPr>
        <p:spPr>
          <a:xfrm>
            <a:off x="0" y="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3"/>
          <p:cNvSpPr/>
          <p:nvPr/>
        </p:nvSpPr>
        <p:spPr>
          <a:xfrm>
            <a:off x="0" y="2559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4"/>
          <p:cNvSpPr/>
          <p:nvPr/>
        </p:nvSpPr>
        <p:spPr>
          <a:xfrm>
            <a:off x="0" y="5119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5"/>
          <p:cNvSpPr/>
          <p:nvPr/>
        </p:nvSpPr>
        <p:spPr>
          <a:xfrm>
            <a:off x="0" y="76824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7"/>
          <p:cNvSpPr/>
          <p:nvPr/>
        </p:nvSpPr>
        <p:spPr>
          <a:xfrm>
            <a:off x="0" y="102420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8"/>
          <p:cNvSpPr/>
          <p:nvPr/>
        </p:nvSpPr>
        <p:spPr>
          <a:xfrm>
            <a:off x="0" y="12801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9"/>
          <p:cNvSpPr/>
          <p:nvPr/>
        </p:nvSpPr>
        <p:spPr>
          <a:xfrm>
            <a:off x="0" y="15361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0"/>
          <p:cNvSpPr/>
          <p:nvPr/>
        </p:nvSpPr>
        <p:spPr>
          <a:xfrm>
            <a:off x="0" y="17920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1"/>
          <p:cNvSpPr/>
          <p:nvPr/>
        </p:nvSpPr>
        <p:spPr>
          <a:xfrm>
            <a:off x="0" y="204840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2"/>
          <p:cNvSpPr/>
          <p:nvPr/>
        </p:nvSpPr>
        <p:spPr>
          <a:xfrm>
            <a:off x="0" y="23043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3"/>
          <p:cNvSpPr/>
          <p:nvPr/>
        </p:nvSpPr>
        <p:spPr>
          <a:xfrm>
            <a:off x="0" y="25603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4"/>
          <p:cNvSpPr/>
          <p:nvPr/>
        </p:nvSpPr>
        <p:spPr>
          <a:xfrm>
            <a:off x="0" y="28162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5"/>
          <p:cNvSpPr/>
          <p:nvPr/>
        </p:nvSpPr>
        <p:spPr>
          <a:xfrm>
            <a:off x="0" y="307224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6"/>
          <p:cNvSpPr/>
          <p:nvPr/>
        </p:nvSpPr>
        <p:spPr>
          <a:xfrm>
            <a:off x="0" y="33285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7"/>
          <p:cNvSpPr/>
          <p:nvPr/>
        </p:nvSpPr>
        <p:spPr>
          <a:xfrm>
            <a:off x="0" y="35845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8"/>
          <p:cNvSpPr/>
          <p:nvPr/>
        </p:nvSpPr>
        <p:spPr>
          <a:xfrm>
            <a:off x="0" y="38404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59"/>
          <p:cNvSpPr/>
          <p:nvPr/>
        </p:nvSpPr>
        <p:spPr>
          <a:xfrm>
            <a:off x="0" y="409644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0"/>
          <p:cNvSpPr/>
          <p:nvPr/>
        </p:nvSpPr>
        <p:spPr>
          <a:xfrm>
            <a:off x="0" y="435240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61"/>
          <p:cNvSpPr/>
          <p:nvPr/>
        </p:nvSpPr>
        <p:spPr>
          <a:xfrm>
            <a:off x="0" y="46087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2"/>
          <p:cNvSpPr/>
          <p:nvPr/>
        </p:nvSpPr>
        <p:spPr>
          <a:xfrm>
            <a:off x="0" y="48646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3"/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4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111820"/>
          </a:solidFill>
          <a:ln w="12600">
            <a:solidFill>
              <a:srgbClr val="1118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5"/>
          <p:cNvSpPr/>
          <p:nvPr/>
        </p:nvSpPr>
        <p:spPr>
          <a:xfrm>
            <a:off x="0" y="4937760"/>
            <a:ext cx="914256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66"/>
          <p:cNvSpPr/>
          <p:nvPr/>
        </p:nvSpPr>
        <p:spPr>
          <a:xfrm>
            <a:off x="6035040" y="1828800"/>
            <a:ext cx="1095840" cy="1095840"/>
          </a:xfrm>
          <a:prstGeom prst="ellipse">
            <a:avLst/>
          </a:prstGeom>
          <a:noFill/>
          <a:ln w="2556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67"/>
          <p:cNvSpPr/>
          <p:nvPr/>
        </p:nvSpPr>
        <p:spPr>
          <a:xfrm>
            <a:off x="5577840" y="1371600"/>
            <a:ext cx="2010240" cy="20102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8"/>
          <p:cNvSpPr/>
          <p:nvPr/>
        </p:nvSpPr>
        <p:spPr>
          <a:xfrm>
            <a:off x="5120640" y="914400"/>
            <a:ext cx="2924640" cy="29246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9"/>
          <p:cNvSpPr/>
          <p:nvPr/>
        </p:nvSpPr>
        <p:spPr>
          <a:xfrm>
            <a:off x="4663440" y="457200"/>
            <a:ext cx="3839040" cy="38390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0"/>
          <p:cNvSpPr/>
          <p:nvPr/>
        </p:nvSpPr>
        <p:spPr>
          <a:xfrm>
            <a:off x="4206240" y="0"/>
            <a:ext cx="4753440" cy="47534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1"/>
          <p:cNvSpPr/>
          <p:nvPr/>
        </p:nvSpPr>
        <p:spPr>
          <a:xfrm>
            <a:off x="4206240" y="2368440"/>
            <a:ext cx="4753440" cy="16920"/>
          </a:xfrm>
          <a:prstGeom prst="rect">
            <a:avLst/>
          </a:prstGeom>
          <a:solidFill>
            <a:srgbClr val="1C3A4A"/>
          </a:solidFill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72"/>
          <p:cNvSpPr/>
          <p:nvPr/>
        </p:nvSpPr>
        <p:spPr>
          <a:xfrm>
            <a:off x="6574680" y="0"/>
            <a:ext cx="16920" cy="4753440"/>
          </a:xfrm>
          <a:prstGeom prst="rect">
            <a:avLst/>
          </a:prstGeom>
          <a:solidFill>
            <a:srgbClr val="1C3A4A"/>
          </a:solidFill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73"/>
          <p:cNvSpPr/>
          <p:nvPr/>
        </p:nvSpPr>
        <p:spPr>
          <a:xfrm>
            <a:off x="6309360" y="2651760"/>
            <a:ext cx="547200" cy="821520"/>
          </a:xfrm>
          <a:prstGeom prst="rect">
            <a:avLst/>
          </a:prstGeom>
          <a:solidFill>
            <a:srgbClr val="0A1520">
              <a:alpha val="70000"/>
            </a:srgbClr>
          </a:solidFill>
          <a:ln w="12600">
            <a:solidFill>
              <a:srgbClr val="0A15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74"/>
          <p:cNvSpPr/>
          <p:nvPr/>
        </p:nvSpPr>
        <p:spPr>
          <a:xfrm>
            <a:off x="6382440" y="2167200"/>
            <a:ext cx="401040" cy="401040"/>
          </a:xfrm>
          <a:prstGeom prst="ellipse">
            <a:avLst/>
          </a:prstGeom>
          <a:solidFill>
            <a:srgbClr val="0A1520">
              <a:alpha val="70000"/>
            </a:srgbClr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5"/>
          <p:cNvSpPr/>
          <p:nvPr/>
        </p:nvSpPr>
        <p:spPr>
          <a:xfrm>
            <a:off x="6519600" y="2313360"/>
            <a:ext cx="126720" cy="126720"/>
          </a:xfrm>
          <a:prstGeom prst="ellipse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6"/>
          <p:cNvSpPr/>
          <p:nvPr/>
        </p:nvSpPr>
        <p:spPr>
          <a:xfrm>
            <a:off x="6720840" y="2377440"/>
            <a:ext cx="2147400" cy="756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7"/>
          <p:cNvSpPr/>
          <p:nvPr/>
        </p:nvSpPr>
        <p:spPr>
          <a:xfrm>
            <a:off x="6680520" y="2474280"/>
            <a:ext cx="1518120" cy="151812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8"/>
          <p:cNvSpPr/>
          <p:nvPr/>
        </p:nvSpPr>
        <p:spPr>
          <a:xfrm>
            <a:off x="6583680" y="2514600"/>
            <a:ext cx="7560" cy="214740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79"/>
          <p:cNvSpPr/>
          <p:nvPr/>
        </p:nvSpPr>
        <p:spPr>
          <a:xfrm>
            <a:off x="4967280" y="2474280"/>
            <a:ext cx="1518120" cy="151812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0"/>
          <p:cNvSpPr/>
          <p:nvPr/>
        </p:nvSpPr>
        <p:spPr>
          <a:xfrm>
            <a:off x="4297680" y="2377440"/>
            <a:ext cx="2147400" cy="36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1"/>
          <p:cNvSpPr/>
          <p:nvPr/>
        </p:nvSpPr>
        <p:spPr>
          <a:xfrm>
            <a:off x="4967280" y="761040"/>
            <a:ext cx="1518120" cy="151812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2"/>
          <p:cNvSpPr/>
          <p:nvPr/>
        </p:nvSpPr>
        <p:spPr>
          <a:xfrm>
            <a:off x="6583680" y="91440"/>
            <a:ext cx="360" cy="214740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3"/>
          <p:cNvSpPr/>
          <p:nvPr/>
        </p:nvSpPr>
        <p:spPr>
          <a:xfrm>
            <a:off x="6680520" y="761040"/>
            <a:ext cx="1518120" cy="1518120"/>
          </a:xfrm>
          <a:prstGeom prst="rect">
            <a:avLst/>
          </a:prstGeom>
          <a:solidFill>
            <a:srgbClr val="1A3040">
              <a:alpha val="50000"/>
            </a:srgbClr>
          </a:solidFill>
          <a:ln w="12600">
            <a:solidFill>
              <a:srgbClr val="1A3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84"/>
          <p:cNvSpPr/>
          <p:nvPr/>
        </p:nvSpPr>
        <p:spPr>
          <a:xfrm>
            <a:off x="182880" y="164520"/>
            <a:ext cx="410040" cy="25452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82880" y="164520"/>
            <a:ext cx="41004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28600" y="1005840"/>
            <a:ext cx="438768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Cybersecurity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28600" y="1664280"/>
            <a:ext cx="4387680" cy="68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E63946"/>
                </a:solidFill>
                <a:effectLst/>
                <a:uFillTx/>
                <a:latin typeface="Arial Black"/>
                <a:ea typeface="Arial Black"/>
              </a:rPr>
              <a:t>Threats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63880" y="2423160"/>
            <a:ext cx="438768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bg1"/>
                </a:solidFill>
                <a:effectLst/>
                <a:uFillTx/>
                <a:latin typeface="Calibri"/>
                <a:ea typeface="Calibri"/>
              </a:rPr>
              <a:t>and How to Stay Safe</a:t>
            </a:r>
            <a:endParaRPr lang="en-US" sz="20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85"/>
          <p:cNvSpPr/>
          <p:nvPr/>
        </p:nvSpPr>
        <p:spPr>
          <a:xfrm>
            <a:off x="276480" y="2907720"/>
            <a:ext cx="164448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37160" y="4955400"/>
            <a:ext cx="639936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Cybersecurity Awareness  |  Digital Safety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33"/>
          <p:cNvSpPr/>
          <p:nvPr/>
        </p:nvSpPr>
        <p:spPr>
          <a:xfrm>
            <a:off x="0" y="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4"/>
          <p:cNvSpPr/>
          <p:nvPr/>
        </p:nvSpPr>
        <p:spPr>
          <a:xfrm>
            <a:off x="0" y="2559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9"/>
          <p:cNvSpPr/>
          <p:nvPr/>
        </p:nvSpPr>
        <p:spPr>
          <a:xfrm>
            <a:off x="0" y="5119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0"/>
          <p:cNvSpPr/>
          <p:nvPr/>
        </p:nvSpPr>
        <p:spPr>
          <a:xfrm>
            <a:off x="0" y="76824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6"/>
          <p:cNvSpPr/>
          <p:nvPr/>
        </p:nvSpPr>
        <p:spPr>
          <a:xfrm>
            <a:off x="0" y="102420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86"/>
          <p:cNvSpPr/>
          <p:nvPr/>
        </p:nvSpPr>
        <p:spPr>
          <a:xfrm>
            <a:off x="0" y="12801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7"/>
          <p:cNvSpPr/>
          <p:nvPr/>
        </p:nvSpPr>
        <p:spPr>
          <a:xfrm>
            <a:off x="0" y="15361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8"/>
          <p:cNvSpPr/>
          <p:nvPr/>
        </p:nvSpPr>
        <p:spPr>
          <a:xfrm>
            <a:off x="0" y="17920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89"/>
          <p:cNvSpPr/>
          <p:nvPr/>
        </p:nvSpPr>
        <p:spPr>
          <a:xfrm>
            <a:off x="0" y="204840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0"/>
          <p:cNvSpPr/>
          <p:nvPr/>
        </p:nvSpPr>
        <p:spPr>
          <a:xfrm>
            <a:off x="0" y="23043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1"/>
          <p:cNvSpPr/>
          <p:nvPr/>
        </p:nvSpPr>
        <p:spPr>
          <a:xfrm>
            <a:off x="0" y="25603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2"/>
          <p:cNvSpPr/>
          <p:nvPr/>
        </p:nvSpPr>
        <p:spPr>
          <a:xfrm>
            <a:off x="0" y="28162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93"/>
          <p:cNvSpPr/>
          <p:nvPr/>
        </p:nvSpPr>
        <p:spPr>
          <a:xfrm>
            <a:off x="0" y="307224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4"/>
          <p:cNvSpPr/>
          <p:nvPr/>
        </p:nvSpPr>
        <p:spPr>
          <a:xfrm>
            <a:off x="0" y="332856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95"/>
          <p:cNvSpPr/>
          <p:nvPr/>
        </p:nvSpPr>
        <p:spPr>
          <a:xfrm>
            <a:off x="0" y="35845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6"/>
          <p:cNvSpPr/>
          <p:nvPr/>
        </p:nvSpPr>
        <p:spPr>
          <a:xfrm>
            <a:off x="0" y="38404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97"/>
          <p:cNvSpPr/>
          <p:nvPr/>
        </p:nvSpPr>
        <p:spPr>
          <a:xfrm>
            <a:off x="0" y="409644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98"/>
          <p:cNvSpPr/>
          <p:nvPr/>
        </p:nvSpPr>
        <p:spPr>
          <a:xfrm>
            <a:off x="0" y="435240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9"/>
          <p:cNvSpPr/>
          <p:nvPr/>
        </p:nvSpPr>
        <p:spPr>
          <a:xfrm>
            <a:off x="0" y="460872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0"/>
          <p:cNvSpPr/>
          <p:nvPr/>
        </p:nvSpPr>
        <p:spPr>
          <a:xfrm>
            <a:off x="0" y="486468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1"/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02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111820"/>
          </a:solidFill>
          <a:ln w="12600">
            <a:solidFill>
              <a:srgbClr val="1118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3"/>
          <p:cNvSpPr/>
          <p:nvPr/>
        </p:nvSpPr>
        <p:spPr>
          <a:xfrm>
            <a:off x="0" y="4937760"/>
            <a:ext cx="914256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4"/>
          <p:cNvSpPr/>
          <p:nvPr/>
        </p:nvSpPr>
        <p:spPr>
          <a:xfrm>
            <a:off x="182880" y="164520"/>
            <a:ext cx="410040" cy="25452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9"/>
          <p:cNvSpPr/>
          <p:nvPr/>
        </p:nvSpPr>
        <p:spPr>
          <a:xfrm>
            <a:off x="182880" y="164520"/>
            <a:ext cx="41004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0"/>
          <p:cNvSpPr/>
          <p:nvPr/>
        </p:nvSpPr>
        <p:spPr>
          <a:xfrm>
            <a:off x="685800" y="182880"/>
            <a:ext cx="27417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00E676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1"/>
          <p:cNvSpPr/>
          <p:nvPr/>
        </p:nvSpPr>
        <p:spPr>
          <a:xfrm>
            <a:off x="228600" y="475560"/>
            <a:ext cx="45705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Cybersecurity: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2"/>
          <p:cNvSpPr/>
          <p:nvPr/>
        </p:nvSpPr>
        <p:spPr>
          <a:xfrm>
            <a:off x="228600" y="941760"/>
            <a:ext cx="45705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63946"/>
                </a:solidFill>
                <a:effectLst/>
                <a:uFillTx/>
                <a:latin typeface="Arial Black"/>
                <a:ea typeface="Arial Black"/>
              </a:rPr>
              <a:t>A Digital Battlefield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5"/>
          <p:cNvSpPr/>
          <p:nvPr/>
        </p:nvSpPr>
        <p:spPr>
          <a:xfrm>
            <a:off x="228600" y="1508760"/>
            <a:ext cx="53280" cy="21016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6"/>
          <p:cNvSpPr/>
          <p:nvPr/>
        </p:nvSpPr>
        <p:spPr>
          <a:xfrm>
            <a:off x="384120" y="1618560"/>
            <a:ext cx="327600" cy="327600"/>
          </a:xfrm>
          <a:prstGeom prst="ellipse">
            <a:avLst/>
          </a:prstGeom>
          <a:solidFill>
            <a:srgbClr val="161B22"/>
          </a:solidFill>
          <a:ln w="1908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3"/>
          <p:cNvSpPr/>
          <p:nvPr/>
        </p:nvSpPr>
        <p:spPr>
          <a:xfrm>
            <a:off x="384120" y="160920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4"/>
          <p:cNvSpPr/>
          <p:nvPr/>
        </p:nvSpPr>
        <p:spPr>
          <a:xfrm>
            <a:off x="804600" y="1572840"/>
            <a:ext cx="365616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6B6B"/>
                </a:solidFill>
                <a:effectLst/>
                <a:uFillTx/>
                <a:latin typeface="Calibri"/>
                <a:ea typeface="Calibri"/>
              </a:rPr>
              <a:t>Attack every 39 seconds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7"/>
          <p:cNvSpPr/>
          <p:nvPr/>
        </p:nvSpPr>
        <p:spPr>
          <a:xfrm>
            <a:off x="384120" y="2130480"/>
            <a:ext cx="327600" cy="327600"/>
          </a:xfrm>
          <a:prstGeom prst="ellipse">
            <a:avLst/>
          </a:prstGeom>
          <a:solidFill>
            <a:srgbClr val="161B22"/>
          </a:solidFill>
          <a:ln w="1908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5"/>
          <p:cNvSpPr/>
          <p:nvPr/>
        </p:nvSpPr>
        <p:spPr>
          <a:xfrm>
            <a:off x="384120" y="212148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⚠️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6"/>
          <p:cNvSpPr/>
          <p:nvPr/>
        </p:nvSpPr>
        <p:spPr>
          <a:xfrm>
            <a:off x="804600" y="2084760"/>
            <a:ext cx="365616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6B6B"/>
                </a:solidFill>
                <a:effectLst/>
                <a:uFillTx/>
                <a:latin typeface="Calibri"/>
                <a:ea typeface="Calibri"/>
              </a:rPr>
              <a:t>90% breaches → human error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8"/>
          <p:cNvSpPr/>
          <p:nvPr/>
        </p:nvSpPr>
        <p:spPr>
          <a:xfrm>
            <a:off x="384120" y="2642760"/>
            <a:ext cx="327600" cy="327600"/>
          </a:xfrm>
          <a:prstGeom prst="ellipse">
            <a:avLst/>
          </a:prstGeom>
          <a:solidFill>
            <a:srgbClr val="161B22"/>
          </a:solidFill>
          <a:ln w="1908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7"/>
          <p:cNvSpPr/>
          <p:nvPr/>
        </p:nvSpPr>
        <p:spPr>
          <a:xfrm>
            <a:off x="384120" y="263340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💾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8"/>
          <p:cNvSpPr/>
          <p:nvPr/>
        </p:nvSpPr>
        <p:spPr>
          <a:xfrm>
            <a:off x="804600" y="2597040"/>
            <a:ext cx="365616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EFF9E"/>
                </a:solidFill>
                <a:effectLst/>
                <a:uFillTx/>
                <a:latin typeface="Calibri"/>
                <a:ea typeface="Calibri"/>
              </a:rPr>
              <a:t>Data = digital currency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9"/>
          <p:cNvSpPr/>
          <p:nvPr/>
        </p:nvSpPr>
        <p:spPr>
          <a:xfrm>
            <a:off x="384120" y="3154680"/>
            <a:ext cx="327600" cy="327600"/>
          </a:xfrm>
          <a:prstGeom prst="ellipse">
            <a:avLst/>
          </a:prstGeom>
          <a:solidFill>
            <a:srgbClr val="161B22"/>
          </a:solidFill>
          <a:ln w="1908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9"/>
          <p:cNvSpPr/>
          <p:nvPr/>
        </p:nvSpPr>
        <p:spPr>
          <a:xfrm>
            <a:off x="384120" y="314568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0"/>
          <p:cNvSpPr/>
          <p:nvPr/>
        </p:nvSpPr>
        <p:spPr>
          <a:xfrm>
            <a:off x="804600" y="3108960"/>
            <a:ext cx="365616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Everyone is a target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0"/>
          <p:cNvSpPr/>
          <p:nvPr/>
        </p:nvSpPr>
        <p:spPr>
          <a:xfrm>
            <a:off x="4937760" y="731520"/>
            <a:ext cx="3976200" cy="4021920"/>
          </a:xfrm>
          <a:prstGeom prst="rect">
            <a:avLst/>
          </a:prstGeom>
          <a:solidFill>
            <a:srgbClr val="161B22"/>
          </a:solidFill>
          <a:ln w="12600">
            <a:solidFill>
              <a:srgbClr val="2A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11"/>
          <p:cNvSpPr/>
          <p:nvPr/>
        </p:nvSpPr>
        <p:spPr>
          <a:xfrm>
            <a:off x="4937760" y="731520"/>
            <a:ext cx="397620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1"/>
          <p:cNvSpPr/>
          <p:nvPr/>
        </p:nvSpPr>
        <p:spPr>
          <a:xfrm>
            <a:off x="5074920" y="8046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00E676"/>
                </a:solidFill>
                <a:effectLst/>
                <a:uFillTx/>
                <a:latin typeface="Calibri"/>
                <a:ea typeface="Calibri"/>
              </a:rPr>
              <a:t>DID YOU KNOW?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2"/>
          <p:cNvSpPr/>
          <p:nvPr/>
        </p:nvSpPr>
        <p:spPr>
          <a:xfrm>
            <a:off x="5074920" y="1170360"/>
            <a:ext cx="3610440" cy="867240"/>
          </a:xfrm>
          <a:prstGeom prst="rect">
            <a:avLst/>
          </a:prstGeom>
          <a:solidFill>
            <a:srgbClr val="1C2128"/>
          </a:solidFill>
          <a:ln w="12600">
            <a:solidFill>
              <a:srgbClr val="2A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13"/>
          <p:cNvSpPr/>
          <p:nvPr/>
        </p:nvSpPr>
        <p:spPr>
          <a:xfrm>
            <a:off x="5074920" y="1170360"/>
            <a:ext cx="53280" cy="86724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2"/>
          <p:cNvSpPr/>
          <p:nvPr/>
        </p:nvSpPr>
        <p:spPr>
          <a:xfrm>
            <a:off x="5230440" y="1216080"/>
            <a:ext cx="329040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63946"/>
                </a:solidFill>
                <a:effectLst/>
                <a:uFillTx/>
                <a:latin typeface="Arial Black"/>
                <a:ea typeface="Arial Black"/>
              </a:rPr>
              <a:t>39s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3"/>
          <p:cNvSpPr/>
          <p:nvPr/>
        </p:nvSpPr>
        <p:spPr>
          <a:xfrm>
            <a:off x="5230440" y="1645920"/>
            <a:ext cx="329040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between each cyberattack worldwide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4"/>
          <p:cNvSpPr/>
          <p:nvPr/>
        </p:nvSpPr>
        <p:spPr>
          <a:xfrm>
            <a:off x="5074920" y="2176200"/>
            <a:ext cx="3610440" cy="867240"/>
          </a:xfrm>
          <a:prstGeom prst="rect">
            <a:avLst/>
          </a:prstGeom>
          <a:solidFill>
            <a:srgbClr val="1C2128"/>
          </a:solidFill>
          <a:ln w="12600">
            <a:solidFill>
              <a:srgbClr val="2A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15"/>
          <p:cNvSpPr/>
          <p:nvPr/>
        </p:nvSpPr>
        <p:spPr>
          <a:xfrm>
            <a:off x="5074920" y="2176200"/>
            <a:ext cx="53280" cy="867240"/>
          </a:xfrm>
          <a:prstGeom prst="rect">
            <a:avLst/>
          </a:prstGeom>
          <a:solidFill>
            <a:srgbClr val="FF9800"/>
          </a:solidFill>
          <a:ln w="12600">
            <a:solidFill>
              <a:srgbClr val="FF9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4"/>
          <p:cNvSpPr/>
          <p:nvPr/>
        </p:nvSpPr>
        <p:spPr>
          <a:xfrm>
            <a:off x="5230440" y="2221920"/>
            <a:ext cx="329040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9800"/>
                </a:solidFill>
                <a:effectLst/>
                <a:uFillTx/>
                <a:latin typeface="Arial Black"/>
                <a:ea typeface="Arial Black"/>
              </a:rPr>
              <a:t>90%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5"/>
          <p:cNvSpPr/>
          <p:nvPr/>
        </p:nvSpPr>
        <p:spPr>
          <a:xfrm>
            <a:off x="5230440" y="2651760"/>
            <a:ext cx="329040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of breaches caused by human error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16"/>
          <p:cNvSpPr/>
          <p:nvPr/>
        </p:nvSpPr>
        <p:spPr>
          <a:xfrm>
            <a:off x="5074920" y="3182040"/>
            <a:ext cx="3610440" cy="867240"/>
          </a:xfrm>
          <a:prstGeom prst="rect">
            <a:avLst/>
          </a:prstGeom>
          <a:solidFill>
            <a:srgbClr val="1C2128"/>
          </a:solidFill>
          <a:ln w="12600">
            <a:solidFill>
              <a:srgbClr val="2A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17"/>
          <p:cNvSpPr/>
          <p:nvPr/>
        </p:nvSpPr>
        <p:spPr>
          <a:xfrm>
            <a:off x="5074920" y="3182040"/>
            <a:ext cx="53280" cy="867240"/>
          </a:xfrm>
          <a:prstGeom prst="rect">
            <a:avLst/>
          </a:prstGeom>
          <a:solidFill>
            <a:srgbClr val="2ECC71"/>
          </a:solidFill>
          <a:ln w="12600">
            <a:solidFill>
              <a:srgbClr val="2ECC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6"/>
          <p:cNvSpPr/>
          <p:nvPr/>
        </p:nvSpPr>
        <p:spPr>
          <a:xfrm>
            <a:off x="5230440" y="3227760"/>
            <a:ext cx="3290400" cy="43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ECC71"/>
                </a:solidFill>
                <a:effectLst/>
                <a:uFillTx/>
                <a:latin typeface="Arial Black"/>
                <a:ea typeface="Arial Black"/>
              </a:rPr>
              <a:t>$4.5M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7"/>
          <p:cNvSpPr/>
          <p:nvPr/>
        </p:nvSpPr>
        <p:spPr>
          <a:xfrm>
            <a:off x="5230440" y="3657600"/>
            <a:ext cx="3290400" cy="31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average cost of a data breach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8"/>
          <p:cNvSpPr/>
          <p:nvPr/>
        </p:nvSpPr>
        <p:spPr>
          <a:xfrm>
            <a:off x="228600" y="3730680"/>
            <a:ext cx="4524840" cy="547200"/>
          </a:xfrm>
          <a:prstGeom prst="rect">
            <a:avLst/>
          </a:prstGeom>
          <a:solidFill>
            <a:srgbClr val="1A0A0A"/>
          </a:solidFill>
          <a:ln w="1908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8"/>
          <p:cNvSpPr/>
          <p:nvPr/>
        </p:nvSpPr>
        <p:spPr>
          <a:xfrm>
            <a:off x="292680" y="3730680"/>
            <a:ext cx="438768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FF9999"/>
                </a:solidFill>
                <a:effectLst/>
                <a:uFillTx/>
                <a:latin typeface="Calibri"/>
                <a:ea typeface="Calibri"/>
              </a:rPr>
              <a:t>👉  "Who here uses the same password twice?"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9"/>
          <p:cNvSpPr/>
          <p:nvPr/>
        </p:nvSpPr>
        <p:spPr>
          <a:xfrm>
            <a:off x="137160" y="4955400"/>
            <a:ext cx="639936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Cybersecurity Awareness  |  Digital Safety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47"/>
          <p:cNvSpPr/>
          <p:nvPr/>
        </p:nvSpPr>
        <p:spPr>
          <a:xfrm>
            <a:off x="274320" y="274320"/>
            <a:ext cx="4113360" cy="4570560"/>
          </a:xfrm>
          <a:prstGeom prst="rect">
            <a:avLst/>
          </a:prstGeom>
          <a:solidFill>
            <a:srgbClr val="131325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48"/>
          <p:cNvSpPr/>
          <p:nvPr/>
        </p:nvSpPr>
        <p:spPr>
          <a:xfrm>
            <a:off x="274320" y="274320"/>
            <a:ext cx="53280" cy="4570560"/>
          </a:xfrm>
          <a:prstGeom prst="rect">
            <a:avLst/>
          </a:prstGeom>
          <a:solidFill>
            <a:srgbClr val="E53E3E"/>
          </a:solidFill>
          <a:ln w="1260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49"/>
          <p:cNvSpPr/>
          <p:nvPr/>
        </p:nvSpPr>
        <p:spPr>
          <a:xfrm>
            <a:off x="411480" y="411480"/>
            <a:ext cx="501480" cy="272880"/>
          </a:xfrm>
          <a:prstGeom prst="rect">
            <a:avLst/>
          </a:prstGeom>
          <a:solidFill>
            <a:srgbClr val="E53E3E"/>
          </a:solidFill>
          <a:ln w="1260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7"/>
          <p:cNvSpPr/>
          <p:nvPr/>
        </p:nvSpPr>
        <p:spPr>
          <a:xfrm>
            <a:off x="411480" y="402480"/>
            <a:ext cx="5014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8"/>
          <p:cNvSpPr/>
          <p:nvPr/>
        </p:nvSpPr>
        <p:spPr>
          <a:xfrm>
            <a:off x="457200" y="822960"/>
            <a:ext cx="374760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Brute Force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9"/>
          <p:cNvSpPr/>
          <p:nvPr/>
        </p:nvSpPr>
        <p:spPr>
          <a:xfrm>
            <a:off x="457200" y="1298520"/>
            <a:ext cx="374760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53E3E"/>
                </a:solidFill>
                <a:effectLst/>
                <a:uFillTx/>
                <a:latin typeface="Arial Black"/>
                <a:ea typeface="Arial Black"/>
              </a:rPr>
              <a:t>Attack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0"/>
          <p:cNvSpPr/>
          <p:nvPr/>
        </p:nvSpPr>
        <p:spPr>
          <a:xfrm>
            <a:off x="502920" y="1874520"/>
            <a:ext cx="34732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HOW IT WORKS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1"/>
          <p:cNvSpPr/>
          <p:nvPr/>
        </p:nvSpPr>
        <p:spPr>
          <a:xfrm>
            <a:off x="502920" y="21762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AD55"/>
                </a:solidFill>
                <a:effectLst/>
                <a:uFillTx/>
                <a:latin typeface="Calibri"/>
              </a:rPr>
              <a:t>⚡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Automated password guessing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2"/>
          <p:cNvSpPr/>
          <p:nvPr/>
        </p:nvSpPr>
        <p:spPr>
          <a:xfrm>
            <a:off x="502920" y="248724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AD55"/>
                </a:solidFill>
                <a:effectLst/>
                <a:uFillTx/>
                <a:latin typeface="Calibri"/>
              </a:rPr>
              <a:t>⚡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Millions of combinations/sec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3"/>
          <p:cNvSpPr/>
          <p:nvPr/>
        </p:nvSpPr>
        <p:spPr>
          <a:xfrm>
            <a:off x="502920" y="2907720"/>
            <a:ext cx="34732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THREAT IMPACT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4"/>
          <p:cNvSpPr/>
          <p:nvPr/>
        </p:nvSpPr>
        <p:spPr>
          <a:xfrm>
            <a:off x="502920" y="32004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🔓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Account takeover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25"/>
          <p:cNvSpPr/>
          <p:nvPr/>
        </p:nvSpPr>
        <p:spPr>
          <a:xfrm>
            <a:off x="502920" y="351144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🔓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Data theft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51"/>
          <p:cNvSpPr/>
          <p:nvPr/>
        </p:nvSpPr>
        <p:spPr>
          <a:xfrm>
            <a:off x="4663440" y="274320"/>
            <a:ext cx="4204800" cy="4570560"/>
          </a:xfrm>
          <a:prstGeom prst="rect">
            <a:avLst/>
          </a:prstGeom>
          <a:solidFill>
            <a:srgbClr val="131325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52"/>
          <p:cNvSpPr/>
          <p:nvPr/>
        </p:nvSpPr>
        <p:spPr>
          <a:xfrm>
            <a:off x="8814960" y="274320"/>
            <a:ext cx="53280" cy="4570560"/>
          </a:xfrm>
          <a:prstGeom prst="rect">
            <a:avLst/>
          </a:prstGeom>
          <a:solidFill>
            <a:srgbClr val="48BB78"/>
          </a:solidFill>
          <a:ln w="12600">
            <a:solidFill>
              <a:srgbClr val="48BB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7"/>
          <p:cNvSpPr/>
          <p:nvPr/>
        </p:nvSpPr>
        <p:spPr>
          <a:xfrm>
            <a:off x="4800600" y="4572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PREVENTION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53"/>
          <p:cNvSpPr/>
          <p:nvPr/>
        </p:nvSpPr>
        <p:spPr>
          <a:xfrm>
            <a:off x="4800600" y="804600"/>
            <a:ext cx="3839040" cy="327600"/>
          </a:xfrm>
          <a:prstGeom prst="rect">
            <a:avLst/>
          </a:prstGeom>
          <a:solidFill>
            <a:srgbClr val="1A1A32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8"/>
          <p:cNvSpPr/>
          <p:nvPr/>
        </p:nvSpPr>
        <p:spPr>
          <a:xfrm>
            <a:off x="4892040" y="804600"/>
            <a:ext cx="365616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🔑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12+ characters required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54"/>
          <p:cNvSpPr/>
          <p:nvPr/>
        </p:nvSpPr>
        <p:spPr>
          <a:xfrm>
            <a:off x="4800600" y="1216080"/>
            <a:ext cx="3839040" cy="327600"/>
          </a:xfrm>
          <a:prstGeom prst="rect">
            <a:avLst/>
          </a:prstGeom>
          <a:solidFill>
            <a:srgbClr val="1A1A32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9"/>
          <p:cNvSpPr/>
          <p:nvPr/>
        </p:nvSpPr>
        <p:spPr>
          <a:xfrm>
            <a:off x="4892040" y="1216080"/>
            <a:ext cx="365616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📱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Enable 2FA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55"/>
          <p:cNvSpPr/>
          <p:nvPr/>
        </p:nvSpPr>
        <p:spPr>
          <a:xfrm>
            <a:off x="4800600" y="1627560"/>
            <a:ext cx="3839040" cy="327600"/>
          </a:xfrm>
          <a:prstGeom prst="rect">
            <a:avLst/>
          </a:prstGeom>
          <a:solidFill>
            <a:srgbClr val="1A1A32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0"/>
          <p:cNvSpPr/>
          <p:nvPr/>
        </p:nvSpPr>
        <p:spPr>
          <a:xfrm>
            <a:off x="4892040" y="1627560"/>
            <a:ext cx="365616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🔒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Account lockout policy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1"/>
          <p:cNvSpPr/>
          <p:nvPr/>
        </p:nvSpPr>
        <p:spPr>
          <a:xfrm>
            <a:off x="4800600" y="2121480"/>
            <a:ext cx="39304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PASSWORD COMPARISON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56"/>
          <p:cNvSpPr/>
          <p:nvPr/>
        </p:nvSpPr>
        <p:spPr>
          <a:xfrm>
            <a:off x="4800600" y="2450520"/>
            <a:ext cx="3839040" cy="867240"/>
          </a:xfrm>
          <a:prstGeom prst="rect">
            <a:avLst/>
          </a:prstGeom>
          <a:solidFill>
            <a:srgbClr val="131325"/>
          </a:solidFill>
          <a:ln w="12600">
            <a:solidFill>
              <a:srgbClr val="1313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2"/>
          <p:cNvSpPr/>
          <p:nvPr/>
        </p:nvSpPr>
        <p:spPr>
          <a:xfrm>
            <a:off x="4937760" y="2505600"/>
            <a:ext cx="34732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WEAK 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3"/>
          <p:cNvSpPr/>
          <p:nvPr/>
        </p:nvSpPr>
        <p:spPr>
          <a:xfrm>
            <a:off x="4937760" y="2760840"/>
            <a:ext cx="356472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Consolas"/>
              </a:rPr>
              <a:t>Ahmed123</a:t>
            </a:r>
            <a:endParaRPr lang="en-US" sz="2100" b="0" u="none" strike="noStrike" dirty="0">
              <a:solidFill>
                <a:schemeClr val="accent4">
                  <a:lumMod val="40000"/>
                  <a:lumOff val="6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7"/>
          <p:cNvSpPr/>
          <p:nvPr/>
        </p:nvSpPr>
        <p:spPr>
          <a:xfrm>
            <a:off x="7178040" y="2514600"/>
            <a:ext cx="1278720" cy="254520"/>
          </a:xfrm>
          <a:prstGeom prst="rect">
            <a:avLst/>
          </a:prstGeom>
          <a:solidFill>
            <a:srgbClr val="9B1C1C"/>
          </a:solidFill>
          <a:ln w="12600">
            <a:solidFill>
              <a:srgbClr val="9B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4"/>
          <p:cNvSpPr/>
          <p:nvPr/>
        </p:nvSpPr>
        <p:spPr>
          <a:xfrm>
            <a:off x="7178040" y="2505600"/>
            <a:ext cx="12787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Cracked in: &lt; 1 sec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58"/>
          <p:cNvSpPr/>
          <p:nvPr/>
        </p:nvSpPr>
        <p:spPr>
          <a:xfrm>
            <a:off x="4800600" y="3429000"/>
            <a:ext cx="3839040" cy="867240"/>
          </a:xfrm>
          <a:prstGeom prst="rect">
            <a:avLst/>
          </a:prstGeom>
          <a:solidFill>
            <a:srgbClr val="131325"/>
          </a:solidFill>
          <a:ln w="12600">
            <a:solidFill>
              <a:srgbClr val="1313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5"/>
          <p:cNvSpPr/>
          <p:nvPr/>
        </p:nvSpPr>
        <p:spPr>
          <a:xfrm>
            <a:off x="4937760" y="3483720"/>
            <a:ext cx="34732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8D391"/>
                </a:solidFill>
                <a:effectLst/>
                <a:uFillTx/>
                <a:latin typeface="Calibri"/>
              </a:rPr>
              <a:t>STRONG ✅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6"/>
          <p:cNvSpPr/>
          <p:nvPr/>
        </p:nvSpPr>
        <p:spPr>
          <a:xfrm>
            <a:off x="4937760" y="3730320"/>
            <a:ext cx="356472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Consolas"/>
              </a:rPr>
              <a:t>T9#kL!2pQr$8</a:t>
            </a:r>
            <a:endParaRPr lang="en-US" sz="2100" b="0" u="none" strike="noStrike" dirty="0">
              <a:solidFill>
                <a:schemeClr val="accent4">
                  <a:lumMod val="40000"/>
                  <a:lumOff val="60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59"/>
          <p:cNvSpPr/>
          <p:nvPr/>
        </p:nvSpPr>
        <p:spPr>
          <a:xfrm>
            <a:off x="7086600" y="3493080"/>
            <a:ext cx="1370160" cy="254520"/>
          </a:xfrm>
          <a:prstGeom prst="rect">
            <a:avLst/>
          </a:prstGeom>
          <a:solidFill>
            <a:srgbClr val="1C5E35"/>
          </a:solidFill>
          <a:ln w="12600">
            <a:solidFill>
              <a:srgbClr val="1C5E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7"/>
          <p:cNvSpPr/>
          <p:nvPr/>
        </p:nvSpPr>
        <p:spPr>
          <a:xfrm>
            <a:off x="7086600" y="3483720"/>
            <a:ext cx="137016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Cracked in: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3,000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yrs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60"/>
          <p:cNvSpPr/>
          <p:nvPr/>
        </p:nvSpPr>
        <p:spPr>
          <a:xfrm>
            <a:off x="0" y="4956120"/>
            <a:ext cx="9142560" cy="181440"/>
          </a:xfrm>
          <a:prstGeom prst="rect">
            <a:avLst/>
          </a:prstGeom>
          <a:solidFill>
            <a:srgbClr val="E53E3E"/>
          </a:solidFill>
          <a:ln w="12600">
            <a:solidFill>
              <a:srgbClr val="E53E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8"/>
          <p:cNvSpPr/>
          <p:nvPr/>
        </p:nvSpPr>
        <p:spPr>
          <a:xfrm>
            <a:off x="274320" y="4956120"/>
            <a:ext cx="859392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Cybersecurity Awareness  |  Brute Force Attacks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4" grpId="0" animBg="1"/>
      <p:bldP spid="145" grpId="0"/>
      <p:bldP spid="147" grpId="0"/>
      <p:bldP spid="149" grpId="0" animBg="1"/>
      <p:bldP spid="1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3"/>
          <p:cNvSpPr/>
          <p:nvPr/>
        </p:nvSpPr>
        <p:spPr>
          <a:xfrm>
            <a:off x="274320" y="274320"/>
            <a:ext cx="4113360" cy="4570560"/>
          </a:xfrm>
          <a:prstGeom prst="rect">
            <a:avLst/>
          </a:prstGeom>
          <a:solidFill>
            <a:srgbClr val="131325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274320" y="274320"/>
            <a:ext cx="53280" cy="457056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411480" y="411480"/>
            <a:ext cx="501480" cy="27288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411480" y="402480"/>
            <a:ext cx="5014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457200" y="822960"/>
            <a:ext cx="374760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Hacking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457200" y="1298520"/>
            <a:ext cx="3747600" cy="4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Explained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502920" y="1874520"/>
            <a:ext cx="34732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HOW IT HAPPENS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502920" y="21762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AD55"/>
                </a:solidFill>
                <a:effectLst/>
                <a:uFillTx/>
                <a:latin typeface="Calibri"/>
              </a:rPr>
              <a:t>⚡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Software vulnerabilities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502920" y="248724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6AD55"/>
                </a:solidFill>
                <a:effectLst/>
                <a:uFillTx/>
                <a:latin typeface="Calibri"/>
              </a:rPr>
              <a:t>⚡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Unpatched systems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502920" y="2907720"/>
            <a:ext cx="34732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THREAT IMPACT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4"/>
          <p:cNvSpPr/>
          <p:nvPr/>
        </p:nvSpPr>
        <p:spPr>
          <a:xfrm>
            <a:off x="502920" y="32004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Full system control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502920" y="351144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Data leaks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4663440" y="274320"/>
            <a:ext cx="4204800" cy="4570560"/>
          </a:xfrm>
          <a:prstGeom prst="rect">
            <a:avLst/>
          </a:prstGeom>
          <a:solidFill>
            <a:srgbClr val="131325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8814960" y="274320"/>
            <a:ext cx="53280" cy="4570560"/>
          </a:xfrm>
          <a:prstGeom prst="rect">
            <a:avLst/>
          </a:prstGeom>
          <a:solidFill>
            <a:srgbClr val="48BB78"/>
          </a:solidFill>
          <a:ln w="12600">
            <a:solidFill>
              <a:srgbClr val="48BB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4800600" y="457200"/>
            <a:ext cx="36561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PREVENTION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4800600" y="804600"/>
            <a:ext cx="3839040" cy="327600"/>
          </a:xfrm>
          <a:prstGeom prst="rect">
            <a:avLst/>
          </a:prstGeom>
          <a:solidFill>
            <a:srgbClr val="1A1A32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1"/>
          <p:cNvSpPr/>
          <p:nvPr/>
        </p:nvSpPr>
        <p:spPr>
          <a:xfrm>
            <a:off x="4892040" y="804600"/>
            <a:ext cx="365616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🔄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Regular updates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4800600" y="1216080"/>
            <a:ext cx="3839040" cy="327600"/>
          </a:xfrm>
          <a:prstGeom prst="rect">
            <a:avLst/>
          </a:prstGeom>
          <a:solidFill>
            <a:srgbClr val="1A1A32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5"/>
          <p:cNvSpPr/>
          <p:nvPr/>
        </p:nvSpPr>
        <p:spPr>
          <a:xfrm>
            <a:off x="4892040" y="1216080"/>
            <a:ext cx="365616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🛡️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Secure configs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4800600" y="1627560"/>
            <a:ext cx="3839040" cy="327600"/>
          </a:xfrm>
          <a:prstGeom prst="rect">
            <a:avLst/>
          </a:prstGeom>
          <a:solidFill>
            <a:srgbClr val="1A1A32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6"/>
          <p:cNvSpPr/>
          <p:nvPr/>
        </p:nvSpPr>
        <p:spPr>
          <a:xfrm>
            <a:off x="4892040" y="1627560"/>
            <a:ext cx="365616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🔥 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Firewalls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7"/>
          <p:cNvSpPr/>
          <p:nvPr/>
        </p:nvSpPr>
        <p:spPr>
          <a:xfrm>
            <a:off x="4800600" y="2121480"/>
            <a:ext cx="393048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201">
                <a:solidFill>
                  <a:srgbClr val="9B9BBB"/>
                </a:solidFill>
                <a:effectLst/>
                <a:uFillTx/>
                <a:latin typeface="Calibri"/>
              </a:rPr>
              <a:t>REAL WORLD EXAMPLE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3"/>
          <p:cNvSpPr/>
          <p:nvPr/>
        </p:nvSpPr>
        <p:spPr>
          <a:xfrm>
            <a:off x="4800600" y="2450520"/>
            <a:ext cx="3381840" cy="620280"/>
          </a:xfrm>
          <a:prstGeom prst="rect">
            <a:avLst/>
          </a:prstGeom>
          <a:solidFill>
            <a:srgbClr val="2D1515"/>
          </a:solidFill>
          <a:ln w="12600">
            <a:solidFill>
              <a:srgbClr val="FC81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4864680" y="2597040"/>
            <a:ext cx="327600" cy="327600"/>
          </a:xfrm>
          <a:prstGeom prst="ellipse">
            <a:avLst/>
          </a:prstGeom>
          <a:solidFill>
            <a:srgbClr val="FC8181"/>
          </a:solidFill>
          <a:ln w="12600">
            <a:solidFill>
              <a:srgbClr val="FC81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1"/>
          <p:cNvSpPr/>
          <p:nvPr/>
        </p:nvSpPr>
        <p:spPr>
          <a:xfrm>
            <a:off x="4864680" y="259704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0D1A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3"/>
          <p:cNvSpPr/>
          <p:nvPr/>
        </p:nvSpPr>
        <p:spPr>
          <a:xfrm>
            <a:off x="5248800" y="2523600"/>
            <a:ext cx="274176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VULNERABLE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4"/>
          <p:cNvSpPr/>
          <p:nvPr/>
        </p:nvSpPr>
        <p:spPr>
          <a:xfrm>
            <a:off x="5248800" y="2743200"/>
            <a:ext cx="283320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Outdated university portal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8"/>
          <p:cNvSpPr/>
          <p:nvPr/>
        </p:nvSpPr>
        <p:spPr>
          <a:xfrm>
            <a:off x="6355080" y="3072240"/>
            <a:ext cx="360" cy="128160"/>
          </a:xfrm>
          <a:prstGeom prst="line">
            <a:avLst/>
          </a:prstGeom>
          <a:ln w="19080">
            <a:solidFill>
              <a:srgbClr val="4A4A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4800600" y="3200400"/>
            <a:ext cx="3381840" cy="620280"/>
          </a:xfrm>
          <a:prstGeom prst="rect">
            <a:avLst/>
          </a:prstGeom>
          <a:solidFill>
            <a:srgbClr val="2D2010"/>
          </a:solidFill>
          <a:ln w="12600">
            <a:solidFill>
              <a:srgbClr val="F6AD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2"/>
          <p:cNvSpPr/>
          <p:nvPr/>
        </p:nvSpPr>
        <p:spPr>
          <a:xfrm>
            <a:off x="4864680" y="3346560"/>
            <a:ext cx="327600" cy="327600"/>
          </a:xfrm>
          <a:prstGeom prst="ellipse">
            <a:avLst/>
          </a:prstGeom>
          <a:solidFill>
            <a:srgbClr val="F6AD55"/>
          </a:solidFill>
          <a:ln w="12600">
            <a:solidFill>
              <a:srgbClr val="F6AD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5"/>
          <p:cNvSpPr/>
          <p:nvPr/>
        </p:nvSpPr>
        <p:spPr>
          <a:xfrm>
            <a:off x="4864680" y="334656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0D1A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6"/>
          <p:cNvSpPr/>
          <p:nvPr/>
        </p:nvSpPr>
        <p:spPr>
          <a:xfrm>
            <a:off x="5248800" y="3273480"/>
            <a:ext cx="274176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6AD55"/>
                </a:solidFill>
                <a:effectLst/>
                <a:uFillTx/>
                <a:latin typeface="Calibri"/>
              </a:rPr>
              <a:t>EXPLOITED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7"/>
          <p:cNvSpPr/>
          <p:nvPr/>
        </p:nvSpPr>
        <p:spPr>
          <a:xfrm>
            <a:off x="5248800" y="3493080"/>
            <a:ext cx="283320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Hacker gains access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6355080" y="3822120"/>
            <a:ext cx="360" cy="127800"/>
          </a:xfrm>
          <a:prstGeom prst="line">
            <a:avLst/>
          </a:prstGeom>
          <a:ln w="19080">
            <a:solidFill>
              <a:srgbClr val="4A4A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6"/>
          <p:cNvSpPr/>
          <p:nvPr/>
        </p:nvSpPr>
        <p:spPr>
          <a:xfrm>
            <a:off x="4800600" y="3950280"/>
            <a:ext cx="3381840" cy="620280"/>
          </a:xfrm>
          <a:prstGeom prst="rect">
            <a:avLst/>
          </a:prstGeom>
          <a:solidFill>
            <a:srgbClr val="122D1D"/>
          </a:solidFill>
          <a:ln w="12600">
            <a:solidFill>
              <a:srgbClr val="68D3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7"/>
          <p:cNvSpPr/>
          <p:nvPr/>
        </p:nvSpPr>
        <p:spPr>
          <a:xfrm>
            <a:off x="4864680" y="4096440"/>
            <a:ext cx="327600" cy="327600"/>
          </a:xfrm>
          <a:prstGeom prst="ellipse">
            <a:avLst/>
          </a:prstGeom>
          <a:solidFill>
            <a:srgbClr val="68D391"/>
          </a:solidFill>
          <a:ln w="12600">
            <a:solidFill>
              <a:srgbClr val="68D39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8"/>
          <p:cNvSpPr/>
          <p:nvPr/>
        </p:nvSpPr>
        <p:spPr>
          <a:xfrm>
            <a:off x="4864680" y="409644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0D1A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9"/>
          <p:cNvSpPr/>
          <p:nvPr/>
        </p:nvSpPr>
        <p:spPr>
          <a:xfrm>
            <a:off x="5248800" y="4023360"/>
            <a:ext cx="274176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8D391"/>
                </a:solidFill>
                <a:effectLst/>
                <a:uFillTx/>
                <a:latin typeface="Calibri"/>
              </a:rPr>
              <a:t>LEAKED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0"/>
          <p:cNvSpPr/>
          <p:nvPr/>
        </p:nvSpPr>
        <p:spPr>
          <a:xfrm>
            <a:off x="5248800" y="4242960"/>
            <a:ext cx="283320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Student data exposed and leaked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8"/>
          <p:cNvSpPr/>
          <p:nvPr/>
        </p:nvSpPr>
        <p:spPr>
          <a:xfrm>
            <a:off x="0" y="4956120"/>
            <a:ext cx="9142560" cy="1814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1"/>
          <p:cNvSpPr/>
          <p:nvPr/>
        </p:nvSpPr>
        <p:spPr>
          <a:xfrm>
            <a:off x="274320" y="4956120"/>
            <a:ext cx="859392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Cybersecurity Awareness  |  Hacking &amp; System Exploitation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457200" y="18288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Global Cybersecurity Attacks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7"/>
          <p:cNvSpPr/>
          <p:nvPr/>
        </p:nvSpPr>
        <p:spPr>
          <a:xfrm>
            <a:off x="457200" y="68580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0AAC0"/>
                </a:solidFill>
                <a:effectLst/>
                <a:uFillTx/>
                <a:latin typeface="Calibri"/>
                <a:ea typeface="Calibri"/>
              </a:rPr>
              <a:t>Number of reported attacks (in millions) | 2020–2024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Chart 1"/>
          <p:cNvGraphicFramePr/>
          <p:nvPr/>
        </p:nvGraphicFramePr>
        <p:xfrm>
          <a:off x="457200" y="1051560"/>
          <a:ext cx="8228520" cy="3747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7" name="Text 58"/>
          <p:cNvSpPr/>
          <p:nvPr/>
        </p:nvSpPr>
        <p:spPr>
          <a:xfrm>
            <a:off x="457200" y="4892040"/>
            <a:ext cx="822852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6B80"/>
                </a:solidFill>
                <a:effectLst/>
                <a:uFillTx/>
                <a:latin typeface="Calibri"/>
                <a:ea typeface="Calibri"/>
              </a:rPr>
              <a:t>Sources: IBM Security, Statista, ENISA Threat Landscape Reports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411840" y="411480"/>
            <a:ext cx="501480" cy="27288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84"/>
          <p:cNvSpPr/>
          <p:nvPr/>
        </p:nvSpPr>
        <p:spPr>
          <a:xfrm>
            <a:off x="411840" y="402480"/>
            <a:ext cx="5014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6"/>
          <p:cNvSpPr/>
          <p:nvPr/>
        </p:nvSpPr>
        <p:spPr>
          <a:xfrm>
            <a:off x="0" y="0"/>
            <a:ext cx="4297320" cy="5143320"/>
          </a:xfrm>
          <a:prstGeom prst="rect">
            <a:avLst/>
          </a:prstGeom>
          <a:solidFill>
            <a:srgbClr val="16163A"/>
          </a:solidFill>
          <a:ln w="12600">
            <a:solidFill>
              <a:srgbClr val="1616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2"/>
          <p:cNvSpPr/>
          <p:nvPr/>
        </p:nvSpPr>
        <p:spPr>
          <a:xfrm>
            <a:off x="9034200" y="0"/>
            <a:ext cx="109440" cy="5143320"/>
          </a:xfrm>
          <a:prstGeom prst="rect">
            <a:avLst/>
          </a:prstGeom>
          <a:solidFill>
            <a:srgbClr val="3DBA7F"/>
          </a:solidFill>
          <a:ln w="12600">
            <a:solidFill>
              <a:srgbClr val="3DBA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4297680" y="0"/>
            <a:ext cx="4845960" cy="36360"/>
          </a:xfrm>
          <a:prstGeom prst="rect">
            <a:avLst/>
          </a:prstGeom>
          <a:solidFill>
            <a:srgbClr val="3DBA7F"/>
          </a:solidFill>
          <a:ln w="12600">
            <a:solidFill>
              <a:srgbClr val="3DBA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8"/>
          <p:cNvSpPr/>
          <p:nvPr/>
        </p:nvSpPr>
        <p:spPr>
          <a:xfrm>
            <a:off x="320040" y="255960"/>
            <a:ext cx="502560" cy="310680"/>
          </a:xfrm>
          <a:prstGeom prst="rect">
            <a:avLst/>
          </a:prstGeom>
          <a:solidFill>
            <a:srgbClr val="7B5EA7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4"/>
          <p:cNvSpPr/>
          <p:nvPr/>
        </p:nvSpPr>
        <p:spPr>
          <a:xfrm>
            <a:off x="320040" y="25596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95"/>
          <p:cNvSpPr/>
          <p:nvPr/>
        </p:nvSpPr>
        <p:spPr>
          <a:xfrm>
            <a:off x="320040" y="71316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Virus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6"/>
          <p:cNvSpPr/>
          <p:nvPr/>
        </p:nvSpPr>
        <p:spPr>
          <a:xfrm>
            <a:off x="320040" y="126180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9B6FCA"/>
                </a:solidFill>
                <a:effectLst/>
                <a:uFillTx/>
                <a:latin typeface="Arial Black"/>
                <a:ea typeface="Arial Black"/>
              </a:rPr>
              <a:t>(Malware)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7"/>
          <p:cNvSpPr/>
          <p:nvPr/>
        </p:nvSpPr>
        <p:spPr>
          <a:xfrm>
            <a:off x="320040" y="19202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HOW IT ENTERS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16" descr="preencoded.png"/>
          <p:cNvPicPr/>
          <p:nvPr/>
        </p:nvPicPr>
        <p:blipFill>
          <a:blip r:embed="rId3"/>
          <a:stretch/>
        </p:blipFill>
        <p:spPr>
          <a:xfrm>
            <a:off x="320040" y="2212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98"/>
          <p:cNvSpPr/>
          <p:nvPr/>
        </p:nvSpPr>
        <p:spPr>
          <a:xfrm>
            <a:off x="594360" y="217620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Cracked software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17" descr="preencoded.png"/>
          <p:cNvPicPr/>
          <p:nvPr/>
        </p:nvPicPr>
        <p:blipFill>
          <a:blip r:embed="rId3"/>
          <a:stretch/>
        </p:blipFill>
        <p:spPr>
          <a:xfrm>
            <a:off x="320040" y="2514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99"/>
          <p:cNvSpPr/>
          <p:nvPr/>
        </p:nvSpPr>
        <p:spPr>
          <a:xfrm>
            <a:off x="594360" y="24778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Email attachment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18" descr="preencoded.png"/>
          <p:cNvPicPr/>
          <p:nvPr/>
        </p:nvPicPr>
        <p:blipFill>
          <a:blip r:embed="rId3"/>
          <a:stretch/>
        </p:blipFill>
        <p:spPr>
          <a:xfrm>
            <a:off x="320040" y="28162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00"/>
          <p:cNvSpPr/>
          <p:nvPr/>
        </p:nvSpPr>
        <p:spPr>
          <a:xfrm>
            <a:off x="594360" y="277992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Infected USB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1"/>
          <p:cNvSpPr/>
          <p:nvPr/>
        </p:nvSpPr>
        <p:spPr>
          <a:xfrm>
            <a:off x="320040" y="32004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THREAT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19" descr="preencoded.png"/>
          <p:cNvPicPr/>
          <p:nvPr/>
        </p:nvPicPr>
        <p:blipFill>
          <a:blip r:embed="rId4"/>
          <a:stretch/>
        </p:blipFill>
        <p:spPr>
          <a:xfrm>
            <a:off x="320040" y="34747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02"/>
          <p:cNvSpPr/>
          <p:nvPr/>
        </p:nvSpPr>
        <p:spPr>
          <a:xfrm>
            <a:off x="594360" y="343800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corruption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20" descr="preencoded.png"/>
          <p:cNvPicPr/>
          <p:nvPr/>
        </p:nvPicPr>
        <p:blipFill>
          <a:blip r:embed="rId4"/>
          <a:stretch/>
        </p:blipFill>
        <p:spPr>
          <a:xfrm>
            <a:off x="320040" y="37764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03"/>
          <p:cNvSpPr/>
          <p:nvPr/>
        </p:nvSpPr>
        <p:spPr>
          <a:xfrm>
            <a:off x="594360" y="374004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slowdown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1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7B5EA7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4"/>
          <p:cNvSpPr/>
          <p:nvPr/>
        </p:nvSpPr>
        <p:spPr>
          <a:xfrm>
            <a:off x="320040" y="4892040"/>
            <a:ext cx="8503560" cy="25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Cybersecurity Awareness  |  Malware &amp; Virus Threats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05"/>
          <p:cNvSpPr/>
          <p:nvPr/>
        </p:nvSpPr>
        <p:spPr>
          <a:xfrm>
            <a:off x="4572000" y="20124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PREVENTION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02"/>
          <p:cNvSpPr/>
          <p:nvPr/>
        </p:nvSpPr>
        <p:spPr>
          <a:xfrm>
            <a:off x="4434840" y="502920"/>
            <a:ext cx="4480200" cy="383760"/>
          </a:xfrm>
          <a:prstGeom prst="rect">
            <a:avLst/>
          </a:prstGeom>
          <a:solidFill>
            <a:srgbClr val="1E1E45"/>
          </a:solidFill>
          <a:ln w="12600">
            <a:solidFill>
              <a:srgbClr val="2A2A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21" descr="preencoded.png"/>
          <p:cNvPicPr/>
          <p:nvPr/>
        </p:nvPicPr>
        <p:blipFill>
          <a:blip r:embed="rId5"/>
          <a:stretch/>
        </p:blipFill>
        <p:spPr>
          <a:xfrm>
            <a:off x="4590360" y="5853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106"/>
          <p:cNvSpPr/>
          <p:nvPr/>
        </p:nvSpPr>
        <p:spPr>
          <a:xfrm>
            <a:off x="4892040" y="5396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Antivirus software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03"/>
          <p:cNvSpPr/>
          <p:nvPr/>
        </p:nvSpPr>
        <p:spPr>
          <a:xfrm>
            <a:off x="4434840" y="951120"/>
            <a:ext cx="4480200" cy="383760"/>
          </a:xfrm>
          <a:prstGeom prst="rect">
            <a:avLst/>
          </a:prstGeom>
          <a:solidFill>
            <a:srgbClr val="1E1E45"/>
          </a:solidFill>
          <a:ln w="12600">
            <a:solidFill>
              <a:srgbClr val="2A2A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22" descr="preencoded.png"/>
          <p:cNvPicPr/>
          <p:nvPr/>
        </p:nvPicPr>
        <p:blipFill>
          <a:blip r:embed="rId6"/>
          <a:stretch/>
        </p:blipFill>
        <p:spPr>
          <a:xfrm>
            <a:off x="4590360" y="10332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107"/>
          <p:cNvSpPr/>
          <p:nvPr/>
        </p:nvSpPr>
        <p:spPr>
          <a:xfrm>
            <a:off x="4892040" y="987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Avoid pirated software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04"/>
          <p:cNvSpPr/>
          <p:nvPr/>
        </p:nvSpPr>
        <p:spPr>
          <a:xfrm>
            <a:off x="4434840" y="1398960"/>
            <a:ext cx="4480200" cy="383760"/>
          </a:xfrm>
          <a:prstGeom prst="rect">
            <a:avLst/>
          </a:prstGeom>
          <a:solidFill>
            <a:srgbClr val="1E1E45"/>
          </a:solidFill>
          <a:ln w="12600">
            <a:solidFill>
              <a:srgbClr val="2A2A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23" descr="preencoded.png"/>
          <p:cNvPicPr/>
          <p:nvPr/>
        </p:nvPicPr>
        <p:blipFill>
          <a:blip r:embed="rId7"/>
          <a:stretch/>
        </p:blipFill>
        <p:spPr>
          <a:xfrm>
            <a:off x="4590360" y="14814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108"/>
          <p:cNvSpPr/>
          <p:nvPr/>
        </p:nvSpPr>
        <p:spPr>
          <a:xfrm>
            <a:off x="4892040" y="14356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Scan files before opening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9"/>
          <p:cNvSpPr/>
          <p:nvPr/>
        </p:nvSpPr>
        <p:spPr>
          <a:xfrm>
            <a:off x="4572000" y="193860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REAL WORLD EXAMPLE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05"/>
          <p:cNvSpPr/>
          <p:nvPr/>
        </p:nvSpPr>
        <p:spPr>
          <a:xfrm>
            <a:off x="4434840" y="2231280"/>
            <a:ext cx="4480200" cy="658080"/>
          </a:xfrm>
          <a:prstGeom prst="rect">
            <a:avLst/>
          </a:prstGeom>
          <a:solidFill>
            <a:srgbClr val="3B1515"/>
          </a:solidFill>
          <a:ln w="12600">
            <a:solidFill>
              <a:srgbClr val="E0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06"/>
          <p:cNvSpPr/>
          <p:nvPr/>
        </p:nvSpPr>
        <p:spPr>
          <a:xfrm>
            <a:off x="4553640" y="2350080"/>
            <a:ext cx="383760" cy="383760"/>
          </a:xfrm>
          <a:prstGeom prst="ellipse">
            <a:avLst/>
          </a:prstGeom>
          <a:solidFill>
            <a:srgbClr val="E05252"/>
          </a:solidFill>
          <a:ln w="12600">
            <a:solidFill>
              <a:srgbClr val="E0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0"/>
          <p:cNvSpPr/>
          <p:nvPr/>
        </p:nvSpPr>
        <p:spPr>
          <a:xfrm>
            <a:off x="4553640" y="2350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1"/>
          <p:cNvSpPr/>
          <p:nvPr/>
        </p:nvSpPr>
        <p:spPr>
          <a:xfrm>
            <a:off x="5029200" y="22586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99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VULNERABLE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2"/>
          <p:cNvSpPr/>
          <p:nvPr/>
        </p:nvSpPr>
        <p:spPr>
          <a:xfrm>
            <a:off x="5029200" y="24231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Downloaded a pirated game online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07"/>
          <p:cNvSpPr/>
          <p:nvPr/>
        </p:nvSpPr>
        <p:spPr>
          <a:xfrm>
            <a:off x="4745520" y="2889360"/>
            <a:ext cx="360" cy="109800"/>
          </a:xfrm>
          <a:prstGeom prst="line">
            <a:avLst/>
          </a:prstGeom>
          <a:ln w="12600">
            <a:solidFill>
              <a:srgbClr val="444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8"/>
          <p:cNvSpPr/>
          <p:nvPr/>
        </p:nvSpPr>
        <p:spPr>
          <a:xfrm>
            <a:off x="4434840" y="2999160"/>
            <a:ext cx="4480200" cy="658080"/>
          </a:xfrm>
          <a:prstGeom prst="rect">
            <a:avLst/>
          </a:prstGeom>
          <a:solidFill>
            <a:srgbClr val="3B2010"/>
          </a:solidFill>
          <a:ln w="12600">
            <a:solidFill>
              <a:srgbClr val="E07B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9"/>
          <p:cNvSpPr/>
          <p:nvPr/>
        </p:nvSpPr>
        <p:spPr>
          <a:xfrm>
            <a:off x="4553640" y="3117960"/>
            <a:ext cx="383760" cy="383760"/>
          </a:xfrm>
          <a:prstGeom prst="ellipse">
            <a:avLst/>
          </a:prstGeom>
          <a:solidFill>
            <a:srgbClr val="E07B52"/>
          </a:solidFill>
          <a:ln w="12600">
            <a:solidFill>
              <a:srgbClr val="E07B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13"/>
          <p:cNvSpPr/>
          <p:nvPr/>
        </p:nvSpPr>
        <p:spPr>
          <a:xfrm>
            <a:off x="4553640" y="3117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4"/>
          <p:cNvSpPr/>
          <p:nvPr/>
        </p:nvSpPr>
        <p:spPr>
          <a:xfrm>
            <a:off x="5029200" y="302652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99">
                <a:solidFill>
                  <a:srgbClr val="E07B52"/>
                </a:solidFill>
                <a:effectLst/>
                <a:uFillTx/>
                <a:latin typeface="Calibri"/>
                <a:ea typeface="Calibri"/>
              </a:rPr>
              <a:t>INFECTED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5"/>
          <p:cNvSpPr/>
          <p:nvPr/>
        </p:nvSpPr>
        <p:spPr>
          <a:xfrm>
            <a:off x="5029200" y="319140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Virus activates and spreads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10"/>
          <p:cNvSpPr/>
          <p:nvPr/>
        </p:nvSpPr>
        <p:spPr>
          <a:xfrm>
            <a:off x="4745520" y="3657600"/>
            <a:ext cx="360" cy="109440"/>
          </a:xfrm>
          <a:prstGeom prst="line">
            <a:avLst/>
          </a:prstGeom>
          <a:ln w="12600">
            <a:solidFill>
              <a:srgbClr val="444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11"/>
          <p:cNvSpPr/>
          <p:nvPr/>
        </p:nvSpPr>
        <p:spPr>
          <a:xfrm>
            <a:off x="4434840" y="3767400"/>
            <a:ext cx="4480200" cy="658080"/>
          </a:xfrm>
          <a:prstGeom prst="rect">
            <a:avLst/>
          </a:prstGeom>
          <a:solidFill>
            <a:srgbClr val="0F2E1E"/>
          </a:solidFill>
          <a:ln w="12600">
            <a:solidFill>
              <a:srgbClr val="3DBA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12"/>
          <p:cNvSpPr/>
          <p:nvPr/>
        </p:nvSpPr>
        <p:spPr>
          <a:xfrm>
            <a:off x="4553640" y="3886200"/>
            <a:ext cx="383760" cy="383760"/>
          </a:xfrm>
          <a:prstGeom prst="ellipse">
            <a:avLst/>
          </a:prstGeom>
          <a:solidFill>
            <a:srgbClr val="3DBA7F"/>
          </a:solidFill>
          <a:ln w="12600">
            <a:solidFill>
              <a:srgbClr val="3DBA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6"/>
          <p:cNvSpPr/>
          <p:nvPr/>
        </p:nvSpPr>
        <p:spPr>
          <a:xfrm>
            <a:off x="455364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6"/>
          <p:cNvSpPr/>
          <p:nvPr/>
        </p:nvSpPr>
        <p:spPr>
          <a:xfrm>
            <a:off x="5029200" y="37947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99">
                <a:solidFill>
                  <a:srgbClr val="3DBA7F"/>
                </a:solidFill>
                <a:effectLst/>
                <a:uFillTx/>
                <a:latin typeface="Calibri"/>
                <a:ea typeface="Calibri"/>
              </a:rPr>
              <a:t>DAMAGED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9"/>
          <p:cNvSpPr/>
          <p:nvPr/>
        </p:nvSpPr>
        <p:spPr>
          <a:xfrm>
            <a:off x="5029200" y="395928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Files corrupted, system unusable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14"/>
          <p:cNvSpPr/>
          <p:nvPr/>
        </p:nvSpPr>
        <p:spPr>
          <a:xfrm>
            <a:off x="0" y="0"/>
            <a:ext cx="4297320" cy="5143320"/>
          </a:xfrm>
          <a:prstGeom prst="rect">
            <a:avLst/>
          </a:prstGeom>
          <a:solidFill>
            <a:srgbClr val="16163A"/>
          </a:solidFill>
          <a:ln w="12600">
            <a:solidFill>
              <a:srgbClr val="1616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7"/>
          <p:cNvSpPr/>
          <p:nvPr/>
        </p:nvSpPr>
        <p:spPr>
          <a:xfrm>
            <a:off x="9034200" y="0"/>
            <a:ext cx="109440" cy="5143320"/>
          </a:xfrm>
          <a:prstGeom prst="rect">
            <a:avLst/>
          </a:prstGeom>
          <a:solidFill>
            <a:srgbClr val="3DBA7F"/>
          </a:solidFill>
          <a:ln w="12600">
            <a:solidFill>
              <a:srgbClr val="3DBA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9"/>
          <p:cNvSpPr/>
          <p:nvPr/>
        </p:nvSpPr>
        <p:spPr>
          <a:xfrm>
            <a:off x="4297680" y="0"/>
            <a:ext cx="4845960" cy="36360"/>
          </a:xfrm>
          <a:prstGeom prst="rect">
            <a:avLst/>
          </a:prstGeom>
          <a:solidFill>
            <a:srgbClr val="3DBA7F"/>
          </a:solidFill>
          <a:ln w="12600">
            <a:solidFill>
              <a:srgbClr val="3DBA7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1"/>
          <p:cNvSpPr/>
          <p:nvPr/>
        </p:nvSpPr>
        <p:spPr>
          <a:xfrm>
            <a:off x="320040" y="255960"/>
            <a:ext cx="502560" cy="310680"/>
          </a:xfrm>
          <a:prstGeom prst="rect">
            <a:avLst/>
          </a:prstGeom>
          <a:solidFill>
            <a:srgbClr val="7B5EA7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6"/>
          <p:cNvSpPr/>
          <p:nvPr/>
        </p:nvSpPr>
        <p:spPr>
          <a:xfrm>
            <a:off x="320040" y="25596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2"/>
          <p:cNvSpPr/>
          <p:nvPr/>
        </p:nvSpPr>
        <p:spPr>
          <a:xfrm>
            <a:off x="320040" y="71316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Ransomware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0"/>
          <p:cNvSpPr/>
          <p:nvPr/>
        </p:nvSpPr>
        <p:spPr>
          <a:xfrm>
            <a:off x="320040" y="123444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9B6FCA"/>
                </a:solidFill>
                <a:effectLst/>
                <a:uFillTx/>
                <a:latin typeface="Arial Black"/>
                <a:ea typeface="Arial Black"/>
              </a:rPr>
              <a:t>Explained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41"/>
          <p:cNvSpPr/>
          <p:nvPr/>
        </p:nvSpPr>
        <p:spPr>
          <a:xfrm>
            <a:off x="320040" y="1901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HOW IT ENTERS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24" descr="preencoded.png"/>
          <p:cNvPicPr/>
          <p:nvPr/>
        </p:nvPicPr>
        <p:blipFill>
          <a:blip r:embed="rId3"/>
          <a:stretch/>
        </p:blipFill>
        <p:spPr>
          <a:xfrm>
            <a:off x="320040" y="21945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142"/>
          <p:cNvSpPr/>
          <p:nvPr/>
        </p:nvSpPr>
        <p:spPr>
          <a:xfrm>
            <a:off x="594360" y="21578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Phishing link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9" name="Image 25" descr="preencoded.png"/>
          <p:cNvPicPr/>
          <p:nvPr/>
        </p:nvPicPr>
        <p:blipFill>
          <a:blip r:embed="rId3"/>
          <a:stretch/>
        </p:blipFill>
        <p:spPr>
          <a:xfrm>
            <a:off x="320040" y="24962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 143"/>
          <p:cNvSpPr/>
          <p:nvPr/>
        </p:nvSpPr>
        <p:spPr>
          <a:xfrm>
            <a:off x="594360" y="24598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Malicious attachment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44"/>
          <p:cNvSpPr/>
          <p:nvPr/>
        </p:nvSpPr>
        <p:spPr>
          <a:xfrm>
            <a:off x="320040" y="28530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THREAT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26" descr="preencoded.png"/>
          <p:cNvPicPr/>
          <p:nvPr/>
        </p:nvPicPr>
        <p:blipFill>
          <a:blip r:embed="rId4"/>
          <a:stretch/>
        </p:blipFill>
        <p:spPr>
          <a:xfrm>
            <a:off x="320040" y="31273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145"/>
          <p:cNvSpPr/>
          <p:nvPr/>
        </p:nvSpPr>
        <p:spPr>
          <a:xfrm>
            <a:off x="594360" y="30906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Files encrypted &amp; locked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27" descr="preencoded.png"/>
          <p:cNvPicPr/>
          <p:nvPr/>
        </p:nvPicPr>
        <p:blipFill>
          <a:blip r:embed="rId4"/>
          <a:stretch/>
        </p:blipFill>
        <p:spPr>
          <a:xfrm>
            <a:off x="320040" y="34290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146"/>
          <p:cNvSpPr/>
          <p:nvPr/>
        </p:nvSpPr>
        <p:spPr>
          <a:xfrm>
            <a:off x="594360" y="33922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Payment demanded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9"/>
          <p:cNvSpPr/>
          <p:nvPr/>
        </p:nvSpPr>
        <p:spPr>
          <a:xfrm>
            <a:off x="320040" y="3840480"/>
            <a:ext cx="3657240" cy="621360"/>
          </a:xfrm>
          <a:prstGeom prst="rect">
            <a:avLst/>
          </a:prstGeom>
          <a:solidFill>
            <a:srgbClr val="2A1A40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28" descr="preencoded.png"/>
          <p:cNvPicPr/>
          <p:nvPr/>
        </p:nvPicPr>
        <p:blipFill>
          <a:blip r:embed="rId5"/>
          <a:stretch/>
        </p:blipFill>
        <p:spPr>
          <a:xfrm>
            <a:off x="438840" y="4022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147"/>
          <p:cNvSpPr/>
          <p:nvPr/>
        </p:nvSpPr>
        <p:spPr>
          <a:xfrm>
            <a:off x="749880" y="3858840"/>
            <a:ext cx="3154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9B6FCA"/>
                </a:solidFill>
                <a:effectLst/>
                <a:uFillTx/>
                <a:latin typeface="Calibri"/>
                <a:ea typeface="Calibri"/>
              </a:rPr>
              <a:t>Ask: </a:t>
            </a: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"Should you ever pay the ransom?"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3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7B5EA7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8"/>
          <p:cNvSpPr/>
          <p:nvPr/>
        </p:nvSpPr>
        <p:spPr>
          <a:xfrm>
            <a:off x="320040" y="4892040"/>
            <a:ext cx="8503560" cy="25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Cybersecurity Awareness  |  Ransomware &amp; Encryption Threats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49"/>
          <p:cNvSpPr/>
          <p:nvPr/>
        </p:nvSpPr>
        <p:spPr>
          <a:xfrm>
            <a:off x="4572000" y="20124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PREVENTION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13"/>
          <p:cNvSpPr/>
          <p:nvPr/>
        </p:nvSpPr>
        <p:spPr>
          <a:xfrm>
            <a:off x="4434840" y="502920"/>
            <a:ext cx="4480200" cy="383760"/>
          </a:xfrm>
          <a:prstGeom prst="rect">
            <a:avLst/>
          </a:prstGeom>
          <a:solidFill>
            <a:srgbClr val="1E1E45"/>
          </a:solidFill>
          <a:ln w="12600">
            <a:solidFill>
              <a:srgbClr val="2A2A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29" descr="preencoded.png"/>
          <p:cNvPicPr/>
          <p:nvPr/>
        </p:nvPicPr>
        <p:blipFill>
          <a:blip r:embed="rId6"/>
          <a:stretch/>
        </p:blipFill>
        <p:spPr>
          <a:xfrm>
            <a:off x="4590360" y="5853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150"/>
          <p:cNvSpPr/>
          <p:nvPr/>
        </p:nvSpPr>
        <p:spPr>
          <a:xfrm>
            <a:off x="4892040" y="5396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Backup data regularly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14"/>
          <p:cNvSpPr/>
          <p:nvPr/>
        </p:nvSpPr>
        <p:spPr>
          <a:xfrm>
            <a:off x="4434840" y="951120"/>
            <a:ext cx="4480200" cy="383760"/>
          </a:xfrm>
          <a:prstGeom prst="rect">
            <a:avLst/>
          </a:prstGeom>
          <a:solidFill>
            <a:srgbClr val="1E1E45"/>
          </a:solidFill>
          <a:ln w="12600">
            <a:solidFill>
              <a:srgbClr val="2A2A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30" descr="preencoded.png"/>
          <p:cNvPicPr/>
          <p:nvPr/>
        </p:nvPicPr>
        <p:blipFill>
          <a:blip r:embed="rId7"/>
          <a:stretch/>
        </p:blipFill>
        <p:spPr>
          <a:xfrm>
            <a:off x="4590360" y="10332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151"/>
          <p:cNvSpPr/>
          <p:nvPr/>
        </p:nvSpPr>
        <p:spPr>
          <a:xfrm>
            <a:off x="4892040" y="987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Don't click unknown links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15"/>
          <p:cNvSpPr/>
          <p:nvPr/>
        </p:nvSpPr>
        <p:spPr>
          <a:xfrm>
            <a:off x="4434840" y="1398960"/>
            <a:ext cx="4480200" cy="383760"/>
          </a:xfrm>
          <a:prstGeom prst="rect">
            <a:avLst/>
          </a:prstGeom>
          <a:solidFill>
            <a:srgbClr val="1E1E45"/>
          </a:solidFill>
          <a:ln w="12600">
            <a:solidFill>
              <a:srgbClr val="2A2A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31" descr="preencoded.png"/>
          <p:cNvPicPr/>
          <p:nvPr/>
        </p:nvPicPr>
        <p:blipFill>
          <a:blip r:embed="rId8"/>
          <a:stretch/>
        </p:blipFill>
        <p:spPr>
          <a:xfrm>
            <a:off x="4590360" y="14814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152"/>
          <p:cNvSpPr/>
          <p:nvPr/>
        </p:nvSpPr>
        <p:spPr>
          <a:xfrm>
            <a:off x="4892040" y="14356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Keep system updated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53"/>
          <p:cNvSpPr/>
          <p:nvPr/>
        </p:nvSpPr>
        <p:spPr>
          <a:xfrm>
            <a:off x="4572000" y="193860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400">
                <a:solidFill>
                  <a:srgbClr val="8888BB"/>
                </a:solidFill>
                <a:effectLst/>
                <a:uFillTx/>
                <a:latin typeface="Calibri"/>
                <a:ea typeface="Calibri"/>
              </a:rPr>
              <a:t>REAL WORLD EXAMPLE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16"/>
          <p:cNvSpPr/>
          <p:nvPr/>
        </p:nvSpPr>
        <p:spPr>
          <a:xfrm>
            <a:off x="4434840" y="2231280"/>
            <a:ext cx="4480200" cy="621360"/>
          </a:xfrm>
          <a:prstGeom prst="rect">
            <a:avLst/>
          </a:prstGeom>
          <a:solidFill>
            <a:srgbClr val="3B1515"/>
          </a:solidFill>
          <a:ln w="12600">
            <a:solidFill>
              <a:srgbClr val="E0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17"/>
          <p:cNvSpPr/>
          <p:nvPr/>
        </p:nvSpPr>
        <p:spPr>
          <a:xfrm>
            <a:off x="4553640" y="2350080"/>
            <a:ext cx="383760" cy="383760"/>
          </a:xfrm>
          <a:prstGeom prst="ellipse">
            <a:avLst/>
          </a:prstGeom>
          <a:solidFill>
            <a:srgbClr val="E05252"/>
          </a:solidFill>
          <a:ln w="12600">
            <a:solidFill>
              <a:srgbClr val="E0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54"/>
          <p:cNvSpPr/>
          <p:nvPr/>
        </p:nvSpPr>
        <p:spPr>
          <a:xfrm>
            <a:off x="4553640" y="2350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55"/>
          <p:cNvSpPr/>
          <p:nvPr/>
        </p:nvSpPr>
        <p:spPr>
          <a:xfrm>
            <a:off x="5029200" y="22586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99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EXPOSED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6"/>
          <p:cNvSpPr/>
          <p:nvPr/>
        </p:nvSpPr>
        <p:spPr>
          <a:xfrm>
            <a:off x="5029200" y="2404800"/>
            <a:ext cx="37486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clicks phishing email link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18"/>
          <p:cNvSpPr/>
          <p:nvPr/>
        </p:nvSpPr>
        <p:spPr>
          <a:xfrm>
            <a:off x="4745520" y="2852640"/>
            <a:ext cx="360" cy="91440"/>
          </a:xfrm>
          <a:prstGeom prst="line">
            <a:avLst/>
          </a:prstGeom>
          <a:ln w="12600">
            <a:solidFill>
              <a:srgbClr val="444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19"/>
          <p:cNvSpPr/>
          <p:nvPr/>
        </p:nvSpPr>
        <p:spPr>
          <a:xfrm>
            <a:off x="4434840" y="2944440"/>
            <a:ext cx="4480200" cy="621360"/>
          </a:xfrm>
          <a:prstGeom prst="rect">
            <a:avLst/>
          </a:prstGeom>
          <a:solidFill>
            <a:srgbClr val="3B2010"/>
          </a:solidFill>
          <a:ln w="12600">
            <a:solidFill>
              <a:srgbClr val="E07B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20"/>
          <p:cNvSpPr/>
          <p:nvPr/>
        </p:nvSpPr>
        <p:spPr>
          <a:xfrm>
            <a:off x="4553640" y="3063240"/>
            <a:ext cx="383760" cy="383760"/>
          </a:xfrm>
          <a:prstGeom prst="ellipse">
            <a:avLst/>
          </a:prstGeom>
          <a:solidFill>
            <a:srgbClr val="E07B52"/>
          </a:solidFill>
          <a:ln w="12600">
            <a:solidFill>
              <a:srgbClr val="E07B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57"/>
          <p:cNvSpPr/>
          <p:nvPr/>
        </p:nvSpPr>
        <p:spPr>
          <a:xfrm>
            <a:off x="4553640" y="3063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8"/>
          <p:cNvSpPr/>
          <p:nvPr/>
        </p:nvSpPr>
        <p:spPr>
          <a:xfrm>
            <a:off x="5029200" y="29718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99">
                <a:solidFill>
                  <a:srgbClr val="E07B52"/>
                </a:solidFill>
                <a:effectLst/>
                <a:uFillTx/>
                <a:latin typeface="Calibri"/>
                <a:ea typeface="Calibri"/>
              </a:rPr>
              <a:t>ENCRYPTED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59"/>
          <p:cNvSpPr/>
          <p:nvPr/>
        </p:nvSpPr>
        <p:spPr>
          <a:xfrm>
            <a:off x="5029200" y="3117960"/>
            <a:ext cx="37486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All files locked by ransomware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21"/>
          <p:cNvSpPr/>
          <p:nvPr/>
        </p:nvSpPr>
        <p:spPr>
          <a:xfrm>
            <a:off x="4745520" y="3566160"/>
            <a:ext cx="360" cy="91440"/>
          </a:xfrm>
          <a:prstGeom prst="line">
            <a:avLst/>
          </a:prstGeom>
          <a:ln w="12600">
            <a:solidFill>
              <a:srgbClr val="444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22"/>
          <p:cNvSpPr/>
          <p:nvPr/>
        </p:nvSpPr>
        <p:spPr>
          <a:xfrm>
            <a:off x="4434840" y="3657600"/>
            <a:ext cx="4480200" cy="804240"/>
          </a:xfrm>
          <a:prstGeom prst="rect">
            <a:avLst/>
          </a:prstGeom>
          <a:solidFill>
            <a:srgbClr val="2A1E00"/>
          </a:solidFill>
          <a:ln w="12600">
            <a:solidFill>
              <a:srgbClr val="D4A0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23"/>
          <p:cNvSpPr/>
          <p:nvPr/>
        </p:nvSpPr>
        <p:spPr>
          <a:xfrm>
            <a:off x="4553640" y="3794760"/>
            <a:ext cx="383760" cy="383760"/>
          </a:xfrm>
          <a:prstGeom prst="ellipse">
            <a:avLst/>
          </a:prstGeom>
          <a:solidFill>
            <a:srgbClr val="D4A017"/>
          </a:solidFill>
          <a:ln w="12600">
            <a:solidFill>
              <a:srgbClr val="D4A0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60"/>
          <p:cNvSpPr/>
          <p:nvPr/>
        </p:nvSpPr>
        <p:spPr>
          <a:xfrm>
            <a:off x="4553640" y="3794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2122A"/>
                </a:solidFill>
                <a:effectLst/>
                <a:uFillTx/>
                <a:latin typeface="Calibri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61"/>
          <p:cNvSpPr/>
          <p:nvPr/>
        </p:nvSpPr>
        <p:spPr>
          <a:xfrm>
            <a:off x="5029200" y="36849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99">
                <a:solidFill>
                  <a:srgbClr val="D4A017"/>
                </a:solidFill>
                <a:effectLst/>
                <a:uFillTx/>
                <a:latin typeface="Calibri"/>
                <a:ea typeface="Calibri"/>
              </a:rPr>
              <a:t>RANSOM NOTE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62"/>
          <p:cNvSpPr/>
          <p:nvPr/>
        </p:nvSpPr>
        <p:spPr>
          <a:xfrm>
            <a:off x="5029200" y="384948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D4A017"/>
                </a:solidFill>
                <a:effectLst/>
                <a:uFillTx/>
                <a:latin typeface="Courier New"/>
                <a:ea typeface="Courier New"/>
              </a:rPr>
              <a:t>"Pay $300 in Bitcoin to unlock your files."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1"/>
          <p:cNvSpPr/>
          <p:nvPr/>
        </p:nvSpPr>
        <p:spPr>
          <a:xfrm>
            <a:off x="360" y="180"/>
            <a:ext cx="9143640" cy="5143320"/>
          </a:xfrm>
          <a:prstGeom prst="rect">
            <a:avLst/>
          </a:prstGeom>
          <a:solidFill>
            <a:srgbClr val="16163A"/>
          </a:solidFill>
          <a:ln w="12600">
            <a:solidFill>
              <a:srgbClr val="1616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1649880" y="91440"/>
            <a:ext cx="3525755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Ransomware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028120" y="54720"/>
            <a:ext cx="2466000" cy="71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3600" b="1" u="none" strike="noStrike" dirty="0">
                <a:solidFill>
                  <a:srgbClr val="9B6FCA"/>
                </a:solidFill>
                <a:effectLst/>
                <a:uFillTx/>
                <a:latin typeface="Arial Black"/>
                <a:ea typeface="Arial Black"/>
              </a:rPr>
              <a:t>Example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Picture 301"/>
          <p:cNvPicPr/>
          <p:nvPr/>
        </p:nvPicPr>
        <p:blipFill>
          <a:blip r:embed="rId2"/>
          <a:stretch/>
        </p:blipFill>
        <p:spPr>
          <a:xfrm>
            <a:off x="1649880" y="685800"/>
            <a:ext cx="5844240" cy="417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Shape 31"/>
          <p:cNvSpPr/>
          <p:nvPr/>
        </p:nvSpPr>
        <p:spPr>
          <a:xfrm>
            <a:off x="360" y="4892040"/>
            <a:ext cx="9143640" cy="251280"/>
          </a:xfrm>
          <a:prstGeom prst="rect">
            <a:avLst/>
          </a:prstGeom>
          <a:solidFill>
            <a:srgbClr val="7B5EA7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83"/>
          <p:cNvSpPr/>
          <p:nvPr/>
        </p:nvSpPr>
        <p:spPr>
          <a:xfrm>
            <a:off x="320400" y="4892040"/>
            <a:ext cx="8503560" cy="25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Cybersecurity Awareness  |  Ransomware &amp; Encryption Threats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64"/>
          <p:cNvSpPr/>
          <p:nvPr/>
        </p:nvSpPr>
        <p:spPr>
          <a:xfrm>
            <a:off x="320040" y="256320"/>
            <a:ext cx="502560" cy="310680"/>
          </a:xfrm>
          <a:prstGeom prst="rect">
            <a:avLst/>
          </a:prstGeom>
          <a:solidFill>
            <a:srgbClr val="7B5EA7"/>
          </a:solidFill>
          <a:ln w="12600">
            <a:solidFill>
              <a:srgbClr val="7B5EA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85"/>
          <p:cNvSpPr/>
          <p:nvPr/>
        </p:nvSpPr>
        <p:spPr>
          <a:xfrm>
            <a:off x="320040" y="25632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FooterBg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111820"/>
          </a:solidFill>
          <a:ln w="12600">
            <a:solidFill>
              <a:srgbClr val="1118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8" name="GreenLine"/>
          <p:cNvSpPr/>
          <p:nvPr/>
        </p:nvSpPr>
        <p:spPr>
          <a:xfrm>
            <a:off x="0" y="4937760"/>
            <a:ext cx="914256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9" name="RightPanel"/>
          <p:cNvSpPr/>
          <p:nvPr/>
        </p:nvSpPr>
        <p:spPr>
          <a:xfrm>
            <a:off x="3899880" y="274320"/>
            <a:ext cx="4968360" cy="4572000"/>
          </a:xfrm>
          <a:prstGeom prst="rect">
            <a:avLst/>
          </a:prstGeom>
          <a:solidFill>
            <a:srgbClr val="131325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0" name="RightBar"/>
          <p:cNvSpPr/>
          <p:nvPr/>
        </p:nvSpPr>
        <p:spPr>
          <a:xfrm>
            <a:off x="8814960" y="274320"/>
            <a:ext cx="53280" cy="457056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1" name="BadgeBg"/>
          <p:cNvSpPr/>
          <p:nvPr/>
        </p:nvSpPr>
        <p:spPr>
          <a:xfrm>
            <a:off x="8212680" y="411480"/>
            <a:ext cx="501480" cy="27288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2" name="BadgeNum"/>
          <p:cNvSpPr/>
          <p:nvPr/>
        </p:nvSpPr>
        <p:spPr>
          <a:xfrm>
            <a:off x="8212680" y="411480"/>
            <a:ext cx="5014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itle1"/>
          <p:cNvSpPr/>
          <p:nvPr/>
        </p:nvSpPr>
        <p:spPr>
          <a:xfrm>
            <a:off x="4100040" y="420120"/>
            <a:ext cx="436824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Phishing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itle2"/>
          <p:cNvSpPr/>
          <p:nvPr/>
        </p:nvSpPr>
        <p:spPr>
          <a:xfrm>
            <a:off x="4100040" y="820080"/>
            <a:ext cx="436824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u="none" strike="noStrike">
                <a:solidFill>
                  <a:srgbClr val="C0392B"/>
                </a:solidFill>
                <a:effectLst/>
                <a:uFillTx/>
                <a:latin typeface="Arial Black"/>
              </a:rPr>
              <a:t>&amp; Modern Tactics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HowHdr"/>
          <p:cNvSpPr/>
          <p:nvPr/>
        </p:nvSpPr>
        <p:spPr>
          <a:xfrm>
            <a:off x="4100040" y="1320120"/>
            <a:ext cx="4368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9B9BBB"/>
                </a:solidFill>
                <a:effectLst/>
                <a:uFillTx/>
                <a:latin typeface="Calibri"/>
              </a:rPr>
              <a:t>HOW IT HAPPENS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HowItems"/>
          <p:cNvSpPr/>
          <p:nvPr/>
        </p:nvSpPr>
        <p:spPr>
          <a:xfrm>
            <a:off x="4100040" y="1540080"/>
            <a:ext cx="4368240" cy="79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⚡  Impersonates trusted orgs &amp; brands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9"/>
              </a:spcBef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⚡  AI generates perfectly written fake emails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9"/>
              </a:spcBef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⚡  Attacks via SMS, WhatsApp &amp; social DMs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hreatHdr"/>
          <p:cNvSpPr/>
          <p:nvPr/>
        </p:nvSpPr>
        <p:spPr>
          <a:xfrm>
            <a:off x="4100040" y="2450160"/>
            <a:ext cx="4368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9B9BBB"/>
                </a:solidFill>
                <a:effectLst/>
                <a:uFillTx/>
                <a:latin typeface="Calibri"/>
              </a:rPr>
              <a:t>THREAT IMPACT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hreatItems"/>
          <p:cNvSpPr/>
          <p:nvPr/>
        </p:nvSpPr>
        <p:spPr>
          <a:xfrm>
            <a:off x="4100040" y="2660040"/>
            <a:ext cx="4368240" cy="59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15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Account &amp; identity hijacking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9"/>
              </a:spcBef>
            </a:pPr>
            <a:r>
              <a:rPr lang="en-US" sz="15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Credential &amp; session token theft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revDiv"/>
          <p:cNvSpPr/>
          <p:nvPr/>
        </p:nvSpPr>
        <p:spPr>
          <a:xfrm>
            <a:off x="4100040" y="3359880"/>
            <a:ext cx="4368240" cy="11160"/>
          </a:xfrm>
          <a:prstGeom prst="rect">
            <a:avLst/>
          </a:prstGeom>
          <a:solidFill>
            <a:srgbClr val="2A2A4A"/>
          </a:solidFill>
          <a:ln w="12600">
            <a:solidFill>
              <a:srgbClr val="2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3120" rIns="90000" bIns="-331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0" name="PrevHdr"/>
          <p:cNvSpPr/>
          <p:nvPr/>
        </p:nvSpPr>
        <p:spPr>
          <a:xfrm>
            <a:off x="4100040" y="3399840"/>
            <a:ext cx="436824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9B9BBB"/>
                </a:solidFill>
                <a:effectLst/>
                <a:uFillTx/>
                <a:latin typeface="Calibri"/>
              </a:rPr>
              <a:t>PREVENTION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PrevItems"/>
          <p:cNvSpPr/>
          <p:nvPr/>
        </p:nvSpPr>
        <p:spPr>
          <a:xfrm>
            <a:off x="4100040" y="3610080"/>
            <a:ext cx="4368240" cy="99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alibri"/>
              </a:rPr>
              <a:t>🛡️  Always verify the sender's address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alibri"/>
              </a:rPr>
              <a:t>🛡️  Hover over links before clicking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500" b="0" u="none" strike="noStrike">
                <a:solidFill>
                  <a:srgbClr val="A7F3D0"/>
                </a:solidFill>
                <a:effectLst/>
                <a:uFillTx/>
                <a:latin typeface="Calibri"/>
              </a:rPr>
              <a:t>🛡️  Enable MFA on every account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LeftPanel"/>
          <p:cNvSpPr/>
          <p:nvPr/>
        </p:nvSpPr>
        <p:spPr>
          <a:xfrm>
            <a:off x="4745" y="587028"/>
            <a:ext cx="3492771" cy="4009843"/>
          </a:xfrm>
          <a:prstGeom prst="rect">
            <a:avLst/>
          </a:prstGeom>
          <a:solidFill>
            <a:srgbClr val="180808"/>
          </a:solidFill>
          <a:ln w="12600">
            <a:solidFill>
              <a:srgbClr val="3A10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3" name="StoryHdr"/>
          <p:cNvSpPr/>
          <p:nvPr/>
        </p:nvSpPr>
        <p:spPr>
          <a:xfrm>
            <a:off x="262695" y="173517"/>
            <a:ext cx="33249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REAL WORLD ATTACK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toryTitle"/>
          <p:cNvSpPr/>
          <p:nvPr/>
        </p:nvSpPr>
        <p:spPr>
          <a:xfrm>
            <a:off x="165648" y="738534"/>
            <a:ext cx="33249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Discord Nitro Phishing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toryLine"/>
          <p:cNvSpPr/>
          <p:nvPr/>
        </p:nvSpPr>
        <p:spPr>
          <a:xfrm>
            <a:off x="165648" y="1294394"/>
            <a:ext cx="3324960" cy="936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920" rIns="90000" bIns="-34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6" name="LS0Bg"/>
          <p:cNvSpPr/>
          <p:nvPr/>
        </p:nvSpPr>
        <p:spPr>
          <a:xfrm>
            <a:off x="165648" y="1394114"/>
            <a:ext cx="3324960" cy="959400"/>
          </a:xfrm>
          <a:prstGeom prst="rect">
            <a:avLst/>
          </a:prstGeom>
          <a:solidFill>
            <a:srgbClr val="250808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7" name="LS0Top"/>
          <p:cNvSpPr/>
          <p:nvPr/>
        </p:nvSpPr>
        <p:spPr>
          <a:xfrm>
            <a:off x="165648" y="1394114"/>
            <a:ext cx="3324960" cy="392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5040" rIns="90000" bIns="-50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8" name="LS0Num"/>
          <p:cNvSpPr/>
          <p:nvPr/>
        </p:nvSpPr>
        <p:spPr>
          <a:xfrm>
            <a:off x="215688" y="1534154"/>
            <a:ext cx="24912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C0392B"/>
                </a:solidFill>
                <a:effectLst/>
                <a:uFillTx/>
                <a:latin typeface="Arial Black"/>
              </a:rPr>
              <a:t>1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LS0Lbl"/>
          <p:cNvSpPr/>
          <p:nvPr/>
        </p:nvSpPr>
        <p:spPr>
          <a:xfrm>
            <a:off x="515568" y="1514354"/>
            <a:ext cx="28249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TARGETED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LS0Desc"/>
          <p:cNvSpPr/>
          <p:nvPr/>
        </p:nvSpPr>
        <p:spPr>
          <a:xfrm>
            <a:off x="515568" y="1734314"/>
            <a:ext cx="282492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User receives fake 'Free Nitro'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message via Discord DM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LS0Arr"/>
          <p:cNvSpPr/>
          <p:nvPr/>
        </p:nvSpPr>
        <p:spPr>
          <a:xfrm>
            <a:off x="1758288" y="2354234"/>
            <a:ext cx="39240" cy="14616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2" name="LS1Bg"/>
          <p:cNvSpPr/>
          <p:nvPr/>
        </p:nvSpPr>
        <p:spPr>
          <a:xfrm>
            <a:off x="165648" y="2494274"/>
            <a:ext cx="3324960" cy="959400"/>
          </a:xfrm>
          <a:prstGeom prst="rect">
            <a:avLst/>
          </a:prstGeom>
          <a:solidFill>
            <a:srgbClr val="250808"/>
          </a:solidFill>
          <a:ln w="12600">
            <a:solidFill>
              <a:srgbClr val="E74C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3" name="LS1Top"/>
          <p:cNvSpPr/>
          <p:nvPr/>
        </p:nvSpPr>
        <p:spPr>
          <a:xfrm>
            <a:off x="165648" y="2494274"/>
            <a:ext cx="3324960" cy="39240"/>
          </a:xfrm>
          <a:prstGeom prst="rect">
            <a:avLst/>
          </a:prstGeom>
          <a:solidFill>
            <a:srgbClr val="E74C3C"/>
          </a:solidFill>
          <a:ln w="12600">
            <a:solidFill>
              <a:srgbClr val="E74C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5040" rIns="90000" bIns="-50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4" name="LS1Num"/>
          <p:cNvSpPr/>
          <p:nvPr/>
        </p:nvSpPr>
        <p:spPr>
          <a:xfrm>
            <a:off x="215688" y="2634314"/>
            <a:ext cx="24912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E74C3C"/>
                </a:solidFill>
                <a:effectLst/>
                <a:uFillTx/>
                <a:latin typeface="Arial Black"/>
              </a:rPr>
              <a:t>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LS1Lbl"/>
          <p:cNvSpPr/>
          <p:nvPr/>
        </p:nvSpPr>
        <p:spPr>
          <a:xfrm>
            <a:off x="515568" y="2614154"/>
            <a:ext cx="28249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EXPLOITED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LS1Desc"/>
          <p:cNvSpPr/>
          <p:nvPr/>
        </p:nvSpPr>
        <p:spPr>
          <a:xfrm>
            <a:off x="515568" y="2834114"/>
            <a:ext cx="282492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Link steals session token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no password needed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LS1Arr"/>
          <p:cNvSpPr/>
          <p:nvPr/>
        </p:nvSpPr>
        <p:spPr>
          <a:xfrm>
            <a:off x="1758288" y="3454394"/>
            <a:ext cx="39240" cy="146160"/>
          </a:xfrm>
          <a:prstGeom prst="rect">
            <a:avLst/>
          </a:prstGeom>
          <a:solidFill>
            <a:srgbClr val="E74C3C"/>
          </a:solidFill>
          <a:ln w="12600">
            <a:solidFill>
              <a:srgbClr val="E74C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8" name="LS2Bg"/>
          <p:cNvSpPr/>
          <p:nvPr/>
        </p:nvSpPr>
        <p:spPr>
          <a:xfrm>
            <a:off x="165648" y="3594434"/>
            <a:ext cx="3324960" cy="959400"/>
          </a:xfrm>
          <a:prstGeom prst="rect">
            <a:avLst/>
          </a:prstGeom>
          <a:solidFill>
            <a:srgbClr val="250808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9" name="LS2Top"/>
          <p:cNvSpPr/>
          <p:nvPr/>
        </p:nvSpPr>
        <p:spPr>
          <a:xfrm>
            <a:off x="165648" y="3594434"/>
            <a:ext cx="3324960" cy="39240"/>
          </a:xfrm>
          <a:prstGeom prst="rect">
            <a:avLst/>
          </a:prstGeom>
          <a:solidFill>
            <a:srgbClr val="C0392B"/>
          </a:solidFill>
          <a:ln w="1260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5040" rIns="90000" bIns="-50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0" name="LS2Num"/>
          <p:cNvSpPr/>
          <p:nvPr/>
        </p:nvSpPr>
        <p:spPr>
          <a:xfrm>
            <a:off x="215688" y="3734114"/>
            <a:ext cx="24912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C0392B"/>
                </a:solidFill>
                <a:effectLst/>
                <a:uFillTx/>
                <a:latin typeface="Arial Black"/>
              </a:rPr>
              <a:t>3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LS2Lbl"/>
          <p:cNvSpPr/>
          <p:nvPr/>
        </p:nvSpPr>
        <p:spPr>
          <a:xfrm>
            <a:off x="515568" y="3714314"/>
            <a:ext cx="282492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HIJACKED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LS2Desc"/>
          <p:cNvSpPr/>
          <p:nvPr/>
        </p:nvSpPr>
        <p:spPr>
          <a:xfrm>
            <a:off x="515568" y="3934274"/>
            <a:ext cx="282492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Full account takeover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Footer"/>
          <p:cNvSpPr/>
          <p:nvPr/>
        </p:nvSpPr>
        <p:spPr>
          <a:xfrm>
            <a:off x="137160" y="4988160"/>
            <a:ext cx="63993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Cybersecurity Awareness  |  Phishing &amp; Modern Tactics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7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50"/>
          <p:cNvSpPr/>
          <p:nvPr/>
        </p:nvSpPr>
        <p:spPr>
          <a:xfrm>
            <a:off x="0" y="23760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61"/>
          <p:cNvSpPr/>
          <p:nvPr/>
        </p:nvSpPr>
        <p:spPr>
          <a:xfrm>
            <a:off x="0" y="47520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62"/>
          <p:cNvSpPr/>
          <p:nvPr/>
        </p:nvSpPr>
        <p:spPr>
          <a:xfrm>
            <a:off x="0" y="71316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63"/>
          <p:cNvSpPr/>
          <p:nvPr/>
        </p:nvSpPr>
        <p:spPr>
          <a:xfrm>
            <a:off x="0" y="95076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64"/>
          <p:cNvSpPr/>
          <p:nvPr/>
        </p:nvSpPr>
        <p:spPr>
          <a:xfrm>
            <a:off x="0" y="118872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65"/>
          <p:cNvSpPr/>
          <p:nvPr/>
        </p:nvSpPr>
        <p:spPr>
          <a:xfrm>
            <a:off x="0" y="142632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66"/>
          <p:cNvSpPr/>
          <p:nvPr/>
        </p:nvSpPr>
        <p:spPr>
          <a:xfrm>
            <a:off x="0" y="166392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67"/>
          <p:cNvSpPr/>
          <p:nvPr/>
        </p:nvSpPr>
        <p:spPr>
          <a:xfrm>
            <a:off x="0" y="190188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68"/>
          <p:cNvSpPr/>
          <p:nvPr/>
        </p:nvSpPr>
        <p:spPr>
          <a:xfrm>
            <a:off x="0" y="213948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69"/>
          <p:cNvSpPr/>
          <p:nvPr/>
        </p:nvSpPr>
        <p:spPr>
          <a:xfrm>
            <a:off x="0" y="237744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70"/>
          <p:cNvSpPr/>
          <p:nvPr/>
        </p:nvSpPr>
        <p:spPr>
          <a:xfrm>
            <a:off x="0" y="261504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71"/>
          <p:cNvSpPr/>
          <p:nvPr/>
        </p:nvSpPr>
        <p:spPr>
          <a:xfrm>
            <a:off x="0" y="285264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72"/>
          <p:cNvSpPr/>
          <p:nvPr/>
        </p:nvSpPr>
        <p:spPr>
          <a:xfrm>
            <a:off x="0" y="309060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73"/>
          <p:cNvSpPr/>
          <p:nvPr/>
        </p:nvSpPr>
        <p:spPr>
          <a:xfrm>
            <a:off x="0" y="332820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74"/>
          <p:cNvSpPr/>
          <p:nvPr/>
        </p:nvSpPr>
        <p:spPr>
          <a:xfrm>
            <a:off x="0" y="356616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75"/>
          <p:cNvSpPr/>
          <p:nvPr/>
        </p:nvSpPr>
        <p:spPr>
          <a:xfrm>
            <a:off x="0" y="380376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76"/>
          <p:cNvSpPr/>
          <p:nvPr/>
        </p:nvSpPr>
        <p:spPr>
          <a:xfrm>
            <a:off x="0" y="404136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77"/>
          <p:cNvSpPr/>
          <p:nvPr/>
        </p:nvSpPr>
        <p:spPr>
          <a:xfrm>
            <a:off x="0" y="427932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78"/>
          <p:cNvSpPr/>
          <p:nvPr/>
        </p:nvSpPr>
        <p:spPr>
          <a:xfrm>
            <a:off x="0" y="451692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79"/>
          <p:cNvSpPr/>
          <p:nvPr/>
        </p:nvSpPr>
        <p:spPr>
          <a:xfrm>
            <a:off x="0" y="475488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80"/>
          <p:cNvSpPr/>
          <p:nvPr/>
        </p:nvSpPr>
        <p:spPr>
          <a:xfrm>
            <a:off x="0" y="4992480"/>
            <a:ext cx="9144000" cy="360"/>
          </a:xfrm>
          <a:prstGeom prst="line">
            <a:avLst/>
          </a:prstGeom>
          <a:ln w="635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81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82"/>
          <p:cNvSpPr/>
          <p:nvPr/>
        </p:nvSpPr>
        <p:spPr>
          <a:xfrm>
            <a:off x="164520" y="164520"/>
            <a:ext cx="438480" cy="292320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4"/>
          <p:cNvSpPr/>
          <p:nvPr/>
        </p:nvSpPr>
        <p:spPr>
          <a:xfrm>
            <a:off x="164520" y="164520"/>
            <a:ext cx="438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9"/>
          <p:cNvSpPr/>
          <p:nvPr/>
        </p:nvSpPr>
        <p:spPr>
          <a:xfrm>
            <a:off x="694800" y="1828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300">
                <a:solidFill>
                  <a:srgbClr val="00C853"/>
                </a:solidFill>
                <a:effectLst/>
                <a:uFillTx/>
                <a:latin typeface="Calibri"/>
                <a:ea typeface="Calibri"/>
              </a:rPr>
              <a:t>PHISHING EXAMPLE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0"/>
          <p:cNvSpPr/>
          <p:nvPr/>
        </p:nvSpPr>
        <p:spPr>
          <a:xfrm>
            <a:off x="164520" y="567000"/>
            <a:ext cx="53031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Fake Email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2"/>
          <p:cNvSpPr/>
          <p:nvPr/>
        </p:nvSpPr>
        <p:spPr>
          <a:xfrm>
            <a:off x="164520" y="104256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E8394A"/>
                </a:solidFill>
                <a:effectLst/>
                <a:uFillTx/>
                <a:latin typeface="Arial Black"/>
                <a:ea typeface="Arial Black"/>
              </a:rPr>
              <a:t>Example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84"/>
          <p:cNvSpPr/>
          <p:nvPr/>
        </p:nvSpPr>
        <p:spPr>
          <a:xfrm>
            <a:off x="164520" y="1645920"/>
            <a:ext cx="5348880" cy="328680"/>
          </a:xfrm>
          <a:prstGeom prst="rect">
            <a:avLst/>
          </a:prstGeom>
          <a:solidFill>
            <a:srgbClr val="1A0A10"/>
          </a:solidFill>
          <a:ln w="12700">
            <a:solidFill>
              <a:srgbClr val="1A0A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6" descr="preencoded.png"/>
          <p:cNvPicPr/>
          <p:nvPr/>
        </p:nvPicPr>
        <p:blipFill>
          <a:blip r:embed="rId3"/>
          <a:stretch/>
        </p:blipFill>
        <p:spPr>
          <a:xfrm>
            <a:off x="255960" y="171000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80"/>
          <p:cNvSpPr/>
          <p:nvPr/>
        </p:nvSpPr>
        <p:spPr>
          <a:xfrm>
            <a:off x="511920" y="164664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394A"/>
                </a:solidFill>
                <a:effectLst/>
                <a:uFillTx/>
                <a:latin typeface="Calibri"/>
                <a:ea typeface="Calibri"/>
              </a:rPr>
              <a:t>New Message  (URGENT)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85"/>
          <p:cNvSpPr/>
          <p:nvPr/>
        </p:nvSpPr>
        <p:spPr>
          <a:xfrm>
            <a:off x="164520" y="1974960"/>
            <a:ext cx="5349240" cy="360"/>
          </a:xfrm>
          <a:prstGeom prst="line">
            <a:avLst/>
          </a:prstGeom>
          <a:ln w="12700">
            <a:solidFill>
              <a:srgbClr val="2A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1"/>
          <p:cNvSpPr/>
          <p:nvPr/>
        </p:nvSpPr>
        <p:spPr>
          <a:xfrm>
            <a:off x="274320" y="2011680"/>
            <a:ext cx="5074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A8099"/>
                </a:solidFill>
                <a:effectLst/>
                <a:uFillTx/>
                <a:latin typeface="Courier New"/>
                <a:ea typeface="Courier New"/>
              </a:rPr>
              <a:t>From: </a:t>
            </a:r>
            <a:r>
              <a:rPr lang="en-US" sz="1400" b="0" u="none" strike="noStrike">
                <a:solidFill>
                  <a:srgbClr val="F5A623"/>
                </a:solidFill>
                <a:effectLst/>
                <a:uFillTx/>
                <a:latin typeface="Courier New"/>
                <a:ea typeface="Courier New"/>
              </a:rPr>
              <a:t>security@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micros0f-support.com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82"/>
          <p:cNvSpPr/>
          <p:nvPr/>
        </p:nvSpPr>
        <p:spPr>
          <a:xfrm>
            <a:off x="274320" y="2304360"/>
            <a:ext cx="5074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A8099"/>
                </a:solidFill>
                <a:effectLst/>
                <a:uFillTx/>
                <a:latin typeface="Courier New"/>
                <a:ea typeface="Courier New"/>
              </a:rPr>
              <a:t>Subject: </a:t>
            </a:r>
            <a:r>
              <a:rPr lang="en-US" sz="1400" b="1" u="none" strike="noStrike">
                <a:solidFill>
                  <a:srgbClr val="F5A623"/>
                </a:solidFill>
                <a:effectLst/>
                <a:uFillTx/>
                <a:latin typeface="Courier New"/>
                <a:ea typeface="Courier New"/>
              </a:rPr>
              <a:t>URGENT: Account Suspension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6"/>
          <p:cNvSpPr/>
          <p:nvPr/>
        </p:nvSpPr>
        <p:spPr>
          <a:xfrm>
            <a:off x="274320" y="2615040"/>
            <a:ext cx="5074920" cy="360"/>
          </a:xfrm>
          <a:prstGeom prst="line">
            <a:avLst/>
          </a:prstGeom>
          <a:ln w="6350">
            <a:solidFill>
              <a:srgbClr val="2A10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83"/>
          <p:cNvSpPr/>
          <p:nvPr/>
        </p:nvSpPr>
        <p:spPr>
          <a:xfrm>
            <a:off x="274320" y="2670120"/>
            <a:ext cx="5074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Dear User,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84"/>
          <p:cNvSpPr/>
          <p:nvPr/>
        </p:nvSpPr>
        <p:spPr>
          <a:xfrm>
            <a:off x="274320" y="2926080"/>
            <a:ext cx="5074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Your account will be suspended in 24 hours.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Click here to verify immediately.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5"/>
          <p:cNvSpPr/>
          <p:nvPr/>
        </p:nvSpPr>
        <p:spPr>
          <a:xfrm>
            <a:off x="274320" y="3420000"/>
            <a:ext cx="5074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http://micros</a:t>
            </a:r>
            <a:r>
              <a:rPr lang="en-US" sz="1400" b="1" u="sng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f-login-security.com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87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88"/>
          <p:cNvSpPr/>
          <p:nvPr/>
        </p:nvSpPr>
        <p:spPr>
          <a:xfrm>
            <a:off x="0" y="4873680"/>
            <a:ext cx="9143640" cy="180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86"/>
          <p:cNvSpPr/>
          <p:nvPr/>
        </p:nvSpPr>
        <p:spPr>
          <a:xfrm>
            <a:off x="201240" y="488304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099"/>
                </a:solidFill>
                <a:effectLst/>
                <a:uFillTx/>
                <a:latin typeface="Calibri"/>
                <a:ea typeface="Calibri"/>
              </a:rPr>
              <a:t>Cybersecurity Awareness  |  Phishing &amp; Fake Email Detection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89"/>
          <p:cNvSpPr/>
          <p:nvPr/>
        </p:nvSpPr>
        <p:spPr>
          <a:xfrm>
            <a:off x="5806440" y="0"/>
            <a:ext cx="3337200" cy="45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87"/>
          <p:cNvSpPr/>
          <p:nvPr/>
        </p:nvSpPr>
        <p:spPr>
          <a:xfrm>
            <a:off x="5943600" y="16452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300">
                <a:solidFill>
                  <a:srgbClr val="E8394A"/>
                </a:solidFill>
                <a:effectLst/>
                <a:uFillTx/>
                <a:latin typeface="Calibri"/>
                <a:ea typeface="Calibri"/>
              </a:rPr>
              <a:t>RED FLAGS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336C63-2BF7-E1A4-44D4-D2D33E6381B4}"/>
              </a:ext>
            </a:extLst>
          </p:cNvPr>
          <p:cNvGrpSpPr/>
          <p:nvPr/>
        </p:nvGrpSpPr>
        <p:grpSpPr>
          <a:xfrm>
            <a:off x="5760720" y="0"/>
            <a:ext cx="3200040" cy="4873680"/>
            <a:chOff x="5760720" y="0"/>
            <a:chExt cx="3200040" cy="4873680"/>
          </a:xfrm>
        </p:grpSpPr>
        <p:sp>
          <p:nvSpPr>
            <p:cNvPr id="388" name="Shape 190"/>
            <p:cNvSpPr/>
            <p:nvPr/>
          </p:nvSpPr>
          <p:spPr>
            <a:xfrm>
              <a:off x="5760720" y="0"/>
              <a:ext cx="360" cy="4873680"/>
            </a:xfrm>
            <a:prstGeom prst="line">
              <a:avLst/>
            </a:prstGeom>
            <a:ln w="12700">
              <a:solidFill>
                <a:srgbClr val="1E1E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Shape 191"/>
            <p:cNvSpPr/>
            <p:nvPr/>
          </p:nvSpPr>
          <p:spPr>
            <a:xfrm>
              <a:off x="5943600" y="502920"/>
              <a:ext cx="3017160" cy="804240"/>
            </a:xfrm>
            <a:prstGeom prst="rect">
              <a:avLst/>
            </a:prstGeom>
            <a:solidFill>
              <a:srgbClr val="171730"/>
            </a:solidFill>
            <a:ln w="12700">
              <a:solidFill>
                <a:srgbClr val="1E1E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Shape 192"/>
            <p:cNvSpPr/>
            <p:nvPr/>
          </p:nvSpPr>
          <p:spPr>
            <a:xfrm>
              <a:off x="5943600" y="502920"/>
              <a:ext cx="63720" cy="804240"/>
            </a:xfrm>
            <a:prstGeom prst="rect">
              <a:avLst/>
            </a:prstGeom>
            <a:solidFill>
              <a:srgbClr val="E8394A"/>
            </a:solidFill>
            <a:ln w="12700">
              <a:solidFill>
                <a:srgbClr val="E8394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91" name="Image 7" descr="preencoded.png"/>
            <p:cNvPicPr/>
            <p:nvPr/>
          </p:nvPicPr>
          <p:blipFill>
            <a:blip r:embed="rId4"/>
            <a:stretch/>
          </p:blipFill>
          <p:spPr>
            <a:xfrm>
              <a:off x="6080760" y="59436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92" name="Text 88"/>
            <p:cNvSpPr/>
            <p:nvPr/>
          </p:nvSpPr>
          <p:spPr>
            <a:xfrm>
              <a:off x="6419160" y="557640"/>
              <a:ext cx="245016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E8394A"/>
                  </a:solidFill>
                  <a:effectLst/>
                  <a:uFillTx/>
                  <a:latin typeface="Arial Black"/>
                  <a:ea typeface="Arial Black"/>
                </a:rPr>
                <a:t>micros0f</a:t>
              </a:r>
              <a:endPara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Text 89"/>
            <p:cNvSpPr/>
            <p:nvPr/>
          </p:nvSpPr>
          <p:spPr>
            <a:xfrm>
              <a:off x="6007320" y="923400"/>
              <a:ext cx="2862000" cy="32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"0" instead of "o"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E89754F-16EF-CCCE-992E-5461BA42D9F1}"/>
              </a:ext>
            </a:extLst>
          </p:cNvPr>
          <p:cNvGrpSpPr/>
          <p:nvPr/>
        </p:nvGrpSpPr>
        <p:grpSpPr>
          <a:xfrm>
            <a:off x="5943600" y="1435680"/>
            <a:ext cx="3017160" cy="804240"/>
            <a:chOff x="5943600" y="1435680"/>
            <a:chExt cx="3017160" cy="804240"/>
          </a:xfrm>
        </p:grpSpPr>
        <p:sp>
          <p:nvSpPr>
            <p:cNvPr id="394" name="Shape 193"/>
            <p:cNvSpPr/>
            <p:nvPr/>
          </p:nvSpPr>
          <p:spPr>
            <a:xfrm>
              <a:off x="5943600" y="1435680"/>
              <a:ext cx="3017160" cy="804240"/>
            </a:xfrm>
            <a:prstGeom prst="rect">
              <a:avLst/>
            </a:prstGeom>
            <a:solidFill>
              <a:srgbClr val="171730"/>
            </a:solidFill>
            <a:ln w="12700">
              <a:solidFill>
                <a:srgbClr val="1E1E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Shape 194"/>
            <p:cNvSpPr/>
            <p:nvPr/>
          </p:nvSpPr>
          <p:spPr>
            <a:xfrm>
              <a:off x="5943600" y="1435680"/>
              <a:ext cx="63720" cy="80424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96" name="Image 8" descr="preencoded.png"/>
            <p:cNvPicPr/>
            <p:nvPr/>
          </p:nvPicPr>
          <p:blipFill>
            <a:blip r:embed="rId4"/>
            <a:stretch/>
          </p:blipFill>
          <p:spPr>
            <a:xfrm>
              <a:off x="6080760" y="152712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97" name="Text 90"/>
            <p:cNvSpPr/>
            <p:nvPr/>
          </p:nvSpPr>
          <p:spPr>
            <a:xfrm>
              <a:off x="6419160" y="1490400"/>
              <a:ext cx="245016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F5A623"/>
                  </a:solidFill>
                  <a:effectLst/>
                  <a:uFillTx/>
                  <a:latin typeface="Arial Black"/>
                  <a:ea typeface="Arial Black"/>
                </a:rPr>
                <a:t>Urgency</a:t>
              </a:r>
              <a:endPara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Text 91"/>
            <p:cNvSpPr/>
            <p:nvPr/>
          </p:nvSpPr>
          <p:spPr>
            <a:xfrm>
              <a:off x="6007320" y="1856160"/>
              <a:ext cx="2862000" cy="32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"24 hours" designed to panic you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9571353-D43E-FB5E-CD60-EEFD9A1D4B37}"/>
              </a:ext>
            </a:extLst>
          </p:cNvPr>
          <p:cNvGrpSpPr/>
          <p:nvPr/>
        </p:nvGrpSpPr>
        <p:grpSpPr>
          <a:xfrm>
            <a:off x="5943600" y="2368440"/>
            <a:ext cx="3017160" cy="804240"/>
            <a:chOff x="5943600" y="2368440"/>
            <a:chExt cx="3017160" cy="804240"/>
          </a:xfrm>
        </p:grpSpPr>
        <p:sp>
          <p:nvSpPr>
            <p:cNvPr id="399" name="Shape 195"/>
            <p:cNvSpPr/>
            <p:nvPr/>
          </p:nvSpPr>
          <p:spPr>
            <a:xfrm>
              <a:off x="5943600" y="2368440"/>
              <a:ext cx="3017160" cy="804240"/>
            </a:xfrm>
            <a:prstGeom prst="rect">
              <a:avLst/>
            </a:prstGeom>
            <a:solidFill>
              <a:srgbClr val="171730"/>
            </a:solidFill>
            <a:ln w="12700">
              <a:solidFill>
                <a:srgbClr val="1E1E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Shape 260"/>
            <p:cNvSpPr/>
            <p:nvPr/>
          </p:nvSpPr>
          <p:spPr>
            <a:xfrm>
              <a:off x="5943600" y="2368440"/>
              <a:ext cx="63720" cy="80424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01" name="Image 32" descr="preencoded.png"/>
            <p:cNvPicPr/>
            <p:nvPr/>
          </p:nvPicPr>
          <p:blipFill>
            <a:blip r:embed="rId4"/>
            <a:stretch/>
          </p:blipFill>
          <p:spPr>
            <a:xfrm>
              <a:off x="6080760" y="245988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2" name="Text 92"/>
            <p:cNvSpPr/>
            <p:nvPr/>
          </p:nvSpPr>
          <p:spPr>
            <a:xfrm>
              <a:off x="6419160" y="2423160"/>
              <a:ext cx="245016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F5A623"/>
                  </a:solidFill>
                  <a:effectLst/>
                  <a:uFillTx/>
                  <a:latin typeface="Arial Black"/>
                  <a:ea typeface="Arial Black"/>
                </a:rPr>
                <a:t>Fake link</a:t>
              </a:r>
              <a:endPara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 93"/>
            <p:cNvSpPr/>
            <p:nvPr/>
          </p:nvSpPr>
          <p:spPr>
            <a:xfrm>
              <a:off x="6007320" y="2788920"/>
              <a:ext cx="2862000" cy="32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domain doesn't match Microsoft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6956123-FF6F-7B84-31E0-831AA7575B88}"/>
              </a:ext>
            </a:extLst>
          </p:cNvPr>
          <p:cNvGrpSpPr/>
          <p:nvPr/>
        </p:nvGrpSpPr>
        <p:grpSpPr>
          <a:xfrm>
            <a:off x="5943600" y="3300840"/>
            <a:ext cx="3017160" cy="804240"/>
            <a:chOff x="5943600" y="3300840"/>
            <a:chExt cx="3017160" cy="804240"/>
          </a:xfrm>
        </p:grpSpPr>
        <p:sp>
          <p:nvSpPr>
            <p:cNvPr id="404" name="Shape 261"/>
            <p:cNvSpPr/>
            <p:nvPr/>
          </p:nvSpPr>
          <p:spPr>
            <a:xfrm>
              <a:off x="5943600" y="3300840"/>
              <a:ext cx="3017160" cy="804240"/>
            </a:xfrm>
            <a:prstGeom prst="rect">
              <a:avLst/>
            </a:prstGeom>
            <a:solidFill>
              <a:srgbClr val="171730"/>
            </a:solidFill>
            <a:ln w="12700">
              <a:solidFill>
                <a:srgbClr val="1E1E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Shape 262"/>
            <p:cNvSpPr/>
            <p:nvPr/>
          </p:nvSpPr>
          <p:spPr>
            <a:xfrm>
              <a:off x="5943600" y="3300840"/>
              <a:ext cx="63720" cy="804240"/>
            </a:xfrm>
            <a:prstGeom prst="rect">
              <a:avLst/>
            </a:prstGeom>
            <a:solidFill>
              <a:srgbClr val="7A8099"/>
            </a:solidFill>
            <a:ln w="12700">
              <a:solidFill>
                <a:srgbClr val="7A809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06" name="Image 33" descr="preencoded.png"/>
            <p:cNvPicPr/>
            <p:nvPr/>
          </p:nvPicPr>
          <p:blipFill>
            <a:blip r:embed="rId4"/>
            <a:stretch/>
          </p:blipFill>
          <p:spPr>
            <a:xfrm>
              <a:off x="6080760" y="3392280"/>
              <a:ext cx="237240" cy="237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7" name="Text 180"/>
            <p:cNvSpPr/>
            <p:nvPr/>
          </p:nvSpPr>
          <p:spPr>
            <a:xfrm>
              <a:off x="6419160" y="3355920"/>
              <a:ext cx="2450160" cy="29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7A8099"/>
                  </a:solidFill>
                  <a:effectLst/>
                  <a:uFillTx/>
                  <a:latin typeface="Arial Black"/>
                  <a:ea typeface="Arial Black"/>
                </a:rPr>
                <a:t>Generic</a:t>
              </a:r>
              <a:endParaRPr lang="en-US" sz="17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Text 181"/>
            <p:cNvSpPr/>
            <p:nvPr/>
          </p:nvSpPr>
          <p:spPr>
            <a:xfrm>
              <a:off x="6007320" y="3721680"/>
              <a:ext cx="2862000" cy="32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"Dear User" is not your real name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9" name="Shape 263"/>
          <p:cNvSpPr/>
          <p:nvPr/>
        </p:nvSpPr>
        <p:spPr>
          <a:xfrm>
            <a:off x="5943600" y="4251960"/>
            <a:ext cx="3017160" cy="548280"/>
          </a:xfrm>
          <a:prstGeom prst="rect">
            <a:avLst/>
          </a:prstGeom>
          <a:solidFill>
            <a:srgbClr val="280A0D"/>
          </a:solidFill>
          <a:ln w="19050">
            <a:solidFill>
              <a:srgbClr val="E839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34" descr="preencoded.png"/>
          <p:cNvPicPr/>
          <p:nvPr/>
        </p:nvPicPr>
        <p:blipFill>
          <a:blip r:embed="rId5"/>
          <a:stretch/>
        </p:blipFill>
        <p:spPr>
          <a:xfrm>
            <a:off x="6053400" y="440676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182"/>
          <p:cNvSpPr/>
          <p:nvPr/>
        </p:nvSpPr>
        <p:spPr>
          <a:xfrm>
            <a:off x="6364080" y="4234320"/>
            <a:ext cx="2514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Ask: </a:t>
            </a: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"What exposed this as fake?"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4"/>
          <p:cNvSpPr/>
          <p:nvPr/>
        </p:nvSpPr>
        <p:spPr>
          <a:xfrm>
            <a:off x="0" y="23760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25"/>
          <p:cNvSpPr/>
          <p:nvPr/>
        </p:nvSpPr>
        <p:spPr>
          <a:xfrm>
            <a:off x="0" y="47520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30"/>
          <p:cNvSpPr/>
          <p:nvPr/>
        </p:nvSpPr>
        <p:spPr>
          <a:xfrm>
            <a:off x="0" y="71316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2"/>
          <p:cNvSpPr/>
          <p:nvPr/>
        </p:nvSpPr>
        <p:spPr>
          <a:xfrm>
            <a:off x="0" y="95076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36"/>
          <p:cNvSpPr/>
          <p:nvPr/>
        </p:nvSpPr>
        <p:spPr>
          <a:xfrm>
            <a:off x="0" y="118872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19"/>
          <p:cNvSpPr/>
          <p:nvPr/>
        </p:nvSpPr>
        <p:spPr>
          <a:xfrm>
            <a:off x="0" y="142632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20"/>
          <p:cNvSpPr/>
          <p:nvPr/>
        </p:nvSpPr>
        <p:spPr>
          <a:xfrm>
            <a:off x="0" y="166392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21"/>
          <p:cNvSpPr/>
          <p:nvPr/>
        </p:nvSpPr>
        <p:spPr>
          <a:xfrm>
            <a:off x="0" y="190188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22"/>
          <p:cNvSpPr/>
          <p:nvPr/>
        </p:nvSpPr>
        <p:spPr>
          <a:xfrm>
            <a:off x="0" y="213948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23"/>
          <p:cNvSpPr/>
          <p:nvPr/>
        </p:nvSpPr>
        <p:spPr>
          <a:xfrm>
            <a:off x="0" y="237744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24"/>
          <p:cNvSpPr/>
          <p:nvPr/>
        </p:nvSpPr>
        <p:spPr>
          <a:xfrm>
            <a:off x="0" y="261504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25"/>
          <p:cNvSpPr/>
          <p:nvPr/>
        </p:nvSpPr>
        <p:spPr>
          <a:xfrm>
            <a:off x="0" y="285264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26"/>
          <p:cNvSpPr/>
          <p:nvPr/>
        </p:nvSpPr>
        <p:spPr>
          <a:xfrm>
            <a:off x="0" y="309060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27"/>
          <p:cNvSpPr/>
          <p:nvPr/>
        </p:nvSpPr>
        <p:spPr>
          <a:xfrm>
            <a:off x="0" y="332820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28"/>
          <p:cNvSpPr/>
          <p:nvPr/>
        </p:nvSpPr>
        <p:spPr>
          <a:xfrm>
            <a:off x="0" y="356616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29"/>
          <p:cNvSpPr/>
          <p:nvPr/>
        </p:nvSpPr>
        <p:spPr>
          <a:xfrm>
            <a:off x="0" y="380376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30"/>
          <p:cNvSpPr/>
          <p:nvPr/>
        </p:nvSpPr>
        <p:spPr>
          <a:xfrm>
            <a:off x="0" y="404136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31"/>
          <p:cNvSpPr/>
          <p:nvPr/>
        </p:nvSpPr>
        <p:spPr>
          <a:xfrm>
            <a:off x="0" y="427932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32"/>
          <p:cNvSpPr/>
          <p:nvPr/>
        </p:nvSpPr>
        <p:spPr>
          <a:xfrm>
            <a:off x="0" y="451692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33"/>
          <p:cNvSpPr/>
          <p:nvPr/>
        </p:nvSpPr>
        <p:spPr>
          <a:xfrm>
            <a:off x="0" y="475488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34"/>
          <p:cNvSpPr/>
          <p:nvPr/>
        </p:nvSpPr>
        <p:spPr>
          <a:xfrm>
            <a:off x="0" y="4992480"/>
            <a:ext cx="9144000" cy="360"/>
          </a:xfrm>
          <a:prstGeom prst="line">
            <a:avLst/>
          </a:prstGeom>
          <a:ln w="6480">
            <a:solidFill>
              <a:srgbClr val="1A1A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35"/>
          <p:cNvSpPr/>
          <p:nvPr/>
        </p:nvSpPr>
        <p:spPr>
          <a:xfrm>
            <a:off x="0" y="0"/>
            <a:ext cx="72720" cy="5143320"/>
          </a:xfrm>
          <a:prstGeom prst="rect">
            <a:avLst/>
          </a:prstGeom>
          <a:solidFill>
            <a:srgbClr val="00C853"/>
          </a:solidFill>
          <a:ln w="126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36"/>
          <p:cNvSpPr/>
          <p:nvPr/>
        </p:nvSpPr>
        <p:spPr>
          <a:xfrm>
            <a:off x="164520" y="164520"/>
            <a:ext cx="438480" cy="292320"/>
          </a:xfrm>
          <a:prstGeom prst="rect">
            <a:avLst/>
          </a:prstGeom>
          <a:solidFill>
            <a:srgbClr val="E8394A"/>
          </a:solidFill>
          <a:ln w="12600">
            <a:solidFill>
              <a:srgbClr val="E839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164520" y="164520"/>
            <a:ext cx="4384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694800" y="1828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300">
                <a:solidFill>
                  <a:srgbClr val="00C853"/>
                </a:solidFill>
                <a:effectLst/>
                <a:uFillTx/>
                <a:latin typeface="Calibri"/>
                <a:ea typeface="Calibri"/>
              </a:rPr>
              <a:t>SOCIAL ENGINEERING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164520" y="548640"/>
            <a:ext cx="5486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Social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164520" y="1115640"/>
            <a:ext cx="5486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E8394A"/>
                </a:solidFill>
                <a:effectLst/>
                <a:uFillTx/>
                <a:latin typeface="Arial Black"/>
                <a:ea typeface="Arial Black"/>
              </a:rPr>
              <a:t>Engineering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37"/>
          <p:cNvSpPr/>
          <p:nvPr/>
        </p:nvSpPr>
        <p:spPr>
          <a:xfrm>
            <a:off x="164520" y="1938600"/>
            <a:ext cx="45360" cy="1389600"/>
          </a:xfrm>
          <a:prstGeom prst="rect">
            <a:avLst/>
          </a:prstGeom>
          <a:solidFill>
            <a:srgbClr val="00C853"/>
          </a:solidFill>
          <a:ln w="126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38"/>
          <p:cNvSpPr/>
          <p:nvPr/>
        </p:nvSpPr>
        <p:spPr>
          <a:xfrm>
            <a:off x="292680" y="1947600"/>
            <a:ext cx="347040" cy="347040"/>
          </a:xfrm>
          <a:prstGeom prst="ellipse">
            <a:avLst/>
          </a:prstGeom>
          <a:solidFill>
            <a:srgbClr val="3B0A10"/>
          </a:solidFill>
          <a:ln w="12600">
            <a:solidFill>
              <a:srgbClr val="E839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2" name="Image 9" descr="preencoded.png"/>
          <p:cNvPicPr/>
          <p:nvPr/>
        </p:nvPicPr>
        <p:blipFill>
          <a:blip r:embed="rId3"/>
          <a:stretch/>
        </p:blipFill>
        <p:spPr>
          <a:xfrm>
            <a:off x="365760" y="20203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Text 7"/>
          <p:cNvSpPr/>
          <p:nvPr/>
        </p:nvSpPr>
        <p:spPr>
          <a:xfrm>
            <a:off x="749880" y="19569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394A"/>
                </a:solidFill>
                <a:effectLst/>
                <a:uFillTx/>
                <a:latin typeface="Calibri"/>
                <a:ea typeface="Calibri"/>
              </a:rPr>
              <a:t>Fake authority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39"/>
          <p:cNvSpPr/>
          <p:nvPr/>
        </p:nvSpPr>
        <p:spPr>
          <a:xfrm>
            <a:off x="292680" y="2423160"/>
            <a:ext cx="347040" cy="347040"/>
          </a:xfrm>
          <a:prstGeom prst="ellipse">
            <a:avLst/>
          </a:prstGeom>
          <a:solidFill>
            <a:srgbClr val="3B2A00"/>
          </a:solidFill>
          <a:ln w="12600">
            <a:solidFill>
              <a:srgbClr val="F5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10" descr="preencoded.png"/>
          <p:cNvPicPr/>
          <p:nvPr/>
        </p:nvPicPr>
        <p:blipFill>
          <a:blip r:embed="rId4"/>
          <a:stretch/>
        </p:blipFill>
        <p:spPr>
          <a:xfrm>
            <a:off x="365760" y="24958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8"/>
          <p:cNvSpPr/>
          <p:nvPr/>
        </p:nvSpPr>
        <p:spPr>
          <a:xfrm>
            <a:off x="749880" y="24321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Fear tactics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40"/>
          <p:cNvSpPr/>
          <p:nvPr/>
        </p:nvSpPr>
        <p:spPr>
          <a:xfrm>
            <a:off x="292680" y="2898720"/>
            <a:ext cx="347040" cy="347040"/>
          </a:xfrm>
          <a:prstGeom prst="ellipse">
            <a:avLst/>
          </a:prstGeom>
          <a:solidFill>
            <a:srgbClr val="003B1A"/>
          </a:solidFill>
          <a:ln w="126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11" descr="preencoded.png"/>
          <p:cNvPicPr/>
          <p:nvPr/>
        </p:nvPicPr>
        <p:blipFill>
          <a:blip r:embed="rId5"/>
          <a:stretch/>
        </p:blipFill>
        <p:spPr>
          <a:xfrm>
            <a:off x="365760" y="29710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9"/>
          <p:cNvSpPr/>
          <p:nvPr/>
        </p:nvSpPr>
        <p:spPr>
          <a:xfrm>
            <a:off x="749880" y="29077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C853"/>
                </a:solidFill>
                <a:effectLst/>
                <a:uFillTx/>
                <a:latin typeface="Calibri"/>
                <a:ea typeface="Calibri"/>
              </a:rPr>
              <a:t>Phone scams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41"/>
          <p:cNvSpPr/>
          <p:nvPr/>
        </p:nvSpPr>
        <p:spPr>
          <a:xfrm>
            <a:off x="164520" y="3438000"/>
            <a:ext cx="5348880" cy="658080"/>
          </a:xfrm>
          <a:prstGeom prst="rect">
            <a:avLst/>
          </a:prstGeom>
          <a:solidFill>
            <a:srgbClr val="280A0D"/>
          </a:solidFill>
          <a:ln w="19080">
            <a:solidFill>
              <a:srgbClr val="E839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1" name="Image 12" descr="preencoded.png"/>
          <p:cNvPicPr/>
          <p:nvPr/>
        </p:nvPicPr>
        <p:blipFill>
          <a:blip r:embed="rId6"/>
          <a:stretch/>
        </p:blipFill>
        <p:spPr>
          <a:xfrm>
            <a:off x="292680" y="3620520"/>
            <a:ext cx="25560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 10"/>
          <p:cNvSpPr/>
          <p:nvPr/>
        </p:nvSpPr>
        <p:spPr>
          <a:xfrm>
            <a:off x="658440" y="3465720"/>
            <a:ext cx="47728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"This is bank security. </a:t>
            </a: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Share your OTP now."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4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0A0A1A"/>
          </a:solidFill>
          <a:ln w="12600">
            <a:solidFill>
              <a:srgbClr val="0A0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43"/>
          <p:cNvSpPr/>
          <p:nvPr/>
        </p:nvSpPr>
        <p:spPr>
          <a:xfrm>
            <a:off x="0" y="4873680"/>
            <a:ext cx="9143640" cy="18000"/>
          </a:xfrm>
          <a:prstGeom prst="rect">
            <a:avLst/>
          </a:prstGeom>
          <a:solidFill>
            <a:srgbClr val="00C853"/>
          </a:solidFill>
          <a:ln w="126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1"/>
          <p:cNvSpPr/>
          <p:nvPr/>
        </p:nvSpPr>
        <p:spPr>
          <a:xfrm>
            <a:off x="201240" y="4883040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7A8099"/>
                </a:solidFill>
                <a:effectLst/>
                <a:uFillTx/>
                <a:latin typeface="Calibri"/>
                <a:ea typeface="Calibri"/>
              </a:rPr>
              <a:t>Cybersecurity Awareness  |  Social Engineering &amp; Human Manipulation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44"/>
          <p:cNvSpPr/>
          <p:nvPr/>
        </p:nvSpPr>
        <p:spPr>
          <a:xfrm>
            <a:off x="5760720" y="0"/>
            <a:ext cx="360" cy="4873680"/>
          </a:xfrm>
          <a:prstGeom prst="line">
            <a:avLst/>
          </a:prstGeom>
          <a:ln w="12600">
            <a:solidFill>
              <a:srgbClr val="1E1E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45"/>
          <p:cNvSpPr/>
          <p:nvPr/>
        </p:nvSpPr>
        <p:spPr>
          <a:xfrm>
            <a:off x="5806440" y="0"/>
            <a:ext cx="3337200" cy="45360"/>
          </a:xfrm>
          <a:prstGeom prst="rect">
            <a:avLst/>
          </a:prstGeom>
          <a:solidFill>
            <a:srgbClr val="00C853"/>
          </a:solidFill>
          <a:ln w="126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2"/>
          <p:cNvSpPr/>
          <p:nvPr/>
        </p:nvSpPr>
        <p:spPr>
          <a:xfrm>
            <a:off x="5686560" y="20520"/>
            <a:ext cx="372204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spc="300">
                <a:solidFill>
                  <a:srgbClr val="00C853"/>
                </a:solidFill>
                <a:effectLst/>
                <a:uFillTx/>
                <a:latin typeface="Calibri"/>
                <a:ea typeface="Calibri"/>
              </a:rPr>
              <a:t>KEY THREATS &amp; PREVENTION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46"/>
          <p:cNvSpPr/>
          <p:nvPr/>
        </p:nvSpPr>
        <p:spPr>
          <a:xfrm>
            <a:off x="5943600" y="502920"/>
            <a:ext cx="3017160" cy="840960"/>
          </a:xfrm>
          <a:prstGeom prst="rect">
            <a:avLst/>
          </a:prstGeom>
          <a:solidFill>
            <a:srgbClr val="171730"/>
          </a:solidFill>
          <a:ln w="12600">
            <a:solidFill>
              <a:srgbClr val="1E1E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96"/>
          <p:cNvSpPr/>
          <p:nvPr/>
        </p:nvSpPr>
        <p:spPr>
          <a:xfrm>
            <a:off x="5943600" y="502920"/>
            <a:ext cx="63720" cy="840960"/>
          </a:xfrm>
          <a:prstGeom prst="rect">
            <a:avLst/>
          </a:prstGeom>
          <a:solidFill>
            <a:srgbClr val="E8394A"/>
          </a:solidFill>
          <a:ln w="12600">
            <a:solidFill>
              <a:srgbClr val="E839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3"/>
          <p:cNvSpPr/>
          <p:nvPr/>
        </p:nvSpPr>
        <p:spPr>
          <a:xfrm>
            <a:off x="6062400" y="539640"/>
            <a:ext cx="30628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8394A"/>
                </a:solidFill>
                <a:effectLst/>
                <a:uFillTx/>
                <a:latin typeface="Arial Black"/>
              </a:rPr>
              <a:t>Trust Exploited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6"/>
          <p:cNvSpPr/>
          <p:nvPr/>
        </p:nvSpPr>
        <p:spPr>
          <a:xfrm>
            <a:off x="6108120" y="841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attacker disguised as legitimate 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97"/>
          <p:cNvSpPr/>
          <p:nvPr/>
        </p:nvSpPr>
        <p:spPr>
          <a:xfrm>
            <a:off x="5943600" y="1444680"/>
            <a:ext cx="3017160" cy="840960"/>
          </a:xfrm>
          <a:prstGeom prst="rect">
            <a:avLst/>
          </a:prstGeom>
          <a:solidFill>
            <a:srgbClr val="171730"/>
          </a:solidFill>
          <a:ln w="12600">
            <a:solidFill>
              <a:srgbClr val="1E1E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98"/>
          <p:cNvSpPr/>
          <p:nvPr/>
        </p:nvSpPr>
        <p:spPr>
          <a:xfrm>
            <a:off x="5943600" y="1444680"/>
            <a:ext cx="63720" cy="840960"/>
          </a:xfrm>
          <a:prstGeom prst="rect">
            <a:avLst/>
          </a:prstGeom>
          <a:solidFill>
            <a:srgbClr val="F5A623"/>
          </a:solidFill>
          <a:ln w="12600">
            <a:solidFill>
              <a:srgbClr val="F5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8"/>
          <p:cNvSpPr/>
          <p:nvPr/>
        </p:nvSpPr>
        <p:spPr>
          <a:xfrm>
            <a:off x="6108120" y="147204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A623"/>
                </a:solidFill>
                <a:effectLst/>
                <a:uFillTx/>
                <a:latin typeface="Arial Black"/>
                <a:ea typeface="Arial Black"/>
              </a:rPr>
              <a:t>Account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0"/>
          <p:cNvSpPr/>
          <p:nvPr/>
        </p:nvSpPr>
        <p:spPr>
          <a:xfrm>
            <a:off x="6108120" y="1783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Drained funds transferred instantly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99"/>
          <p:cNvSpPr/>
          <p:nvPr/>
        </p:nvSpPr>
        <p:spPr>
          <a:xfrm>
            <a:off x="5943600" y="2386440"/>
            <a:ext cx="3017160" cy="840960"/>
          </a:xfrm>
          <a:prstGeom prst="rect">
            <a:avLst/>
          </a:prstGeom>
          <a:solidFill>
            <a:srgbClr val="171730"/>
          </a:solidFill>
          <a:ln w="12600">
            <a:solidFill>
              <a:srgbClr val="1E1E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00"/>
          <p:cNvSpPr/>
          <p:nvPr/>
        </p:nvSpPr>
        <p:spPr>
          <a:xfrm>
            <a:off x="5943600" y="2386440"/>
            <a:ext cx="63720" cy="840960"/>
          </a:xfrm>
          <a:prstGeom prst="rect">
            <a:avLst/>
          </a:prstGeom>
          <a:solidFill>
            <a:srgbClr val="00C853"/>
          </a:solidFill>
          <a:ln w="12600">
            <a:solidFill>
              <a:srgbClr val="00C85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2"/>
          <p:cNvSpPr/>
          <p:nvPr/>
        </p:nvSpPr>
        <p:spPr>
          <a:xfrm>
            <a:off x="6108120" y="2414160"/>
            <a:ext cx="2742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C853"/>
                </a:solidFill>
                <a:effectLst/>
                <a:uFillTx/>
                <a:latin typeface="Arial Black"/>
                <a:ea typeface="Arial Black"/>
              </a:rPr>
              <a:t>$1B+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3"/>
          <p:cNvSpPr/>
          <p:nvPr/>
        </p:nvSpPr>
        <p:spPr>
          <a:xfrm>
            <a:off x="6108120" y="27248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lost to phone scams globally each year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01"/>
          <p:cNvSpPr/>
          <p:nvPr/>
        </p:nvSpPr>
        <p:spPr>
          <a:xfrm>
            <a:off x="5943600" y="3364920"/>
            <a:ext cx="3017520" cy="360"/>
          </a:xfrm>
          <a:prstGeom prst="line">
            <a:avLst/>
          </a:prstGeom>
          <a:ln w="12600">
            <a:solidFill>
              <a:srgbClr val="1E1E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8"/>
          <p:cNvSpPr/>
          <p:nvPr/>
        </p:nvSpPr>
        <p:spPr>
          <a:xfrm>
            <a:off x="5943600" y="34200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300">
                <a:solidFill>
                  <a:srgbClr val="00C853"/>
                </a:solidFill>
                <a:effectLst/>
                <a:uFillTx/>
                <a:latin typeface="Calibri"/>
                <a:ea typeface="Calibri"/>
              </a:rPr>
              <a:t>PREVENTION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3" name="Image 13" descr="preencoded.png"/>
          <p:cNvPicPr/>
          <p:nvPr/>
        </p:nvPicPr>
        <p:blipFill>
          <a:blip r:embed="rId7"/>
          <a:stretch/>
        </p:blipFill>
        <p:spPr>
          <a:xfrm>
            <a:off x="5961960" y="3757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Text 29"/>
          <p:cNvSpPr/>
          <p:nvPr/>
        </p:nvSpPr>
        <p:spPr>
          <a:xfrm>
            <a:off x="6254640" y="3675960"/>
            <a:ext cx="2831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Never share OTP, no bank will ask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5" name="Image 14" descr="preencoded.png"/>
          <p:cNvPicPr/>
          <p:nvPr/>
        </p:nvPicPr>
        <p:blipFill>
          <a:blip r:embed="rId8"/>
          <a:stretch/>
        </p:blipFill>
        <p:spPr>
          <a:xfrm>
            <a:off x="5961960" y="41234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 33"/>
          <p:cNvSpPr/>
          <p:nvPr/>
        </p:nvSpPr>
        <p:spPr>
          <a:xfrm>
            <a:off x="6254640" y="4041720"/>
            <a:ext cx="278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Verify the caller via official number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7" name="Image 15" descr="preencoded.png"/>
          <p:cNvPicPr/>
          <p:nvPr/>
        </p:nvPicPr>
        <p:blipFill>
          <a:blip r:embed="rId9"/>
          <a:stretch/>
        </p:blipFill>
        <p:spPr>
          <a:xfrm>
            <a:off x="5961960" y="44892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Text 38"/>
          <p:cNvSpPr/>
          <p:nvPr/>
        </p:nvSpPr>
        <p:spPr>
          <a:xfrm>
            <a:off x="6254640" y="4407480"/>
            <a:ext cx="2697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Stay calm, urgency is a trap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224"/>
          <p:cNvSpPr/>
          <p:nvPr/>
        </p:nvSpPr>
        <p:spPr>
          <a:xfrm>
            <a:off x="274320" y="18288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25"/>
          <p:cNvSpPr/>
          <p:nvPr/>
        </p:nvSpPr>
        <p:spPr>
          <a:xfrm>
            <a:off x="1645920" y="36576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26"/>
          <p:cNvSpPr/>
          <p:nvPr/>
        </p:nvSpPr>
        <p:spPr>
          <a:xfrm>
            <a:off x="3200400" y="9144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27"/>
          <p:cNvSpPr/>
          <p:nvPr/>
        </p:nvSpPr>
        <p:spPr>
          <a:xfrm>
            <a:off x="4572000" y="27432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28"/>
          <p:cNvSpPr/>
          <p:nvPr/>
        </p:nvSpPr>
        <p:spPr>
          <a:xfrm>
            <a:off x="6217920" y="13716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29"/>
          <p:cNvSpPr/>
          <p:nvPr/>
        </p:nvSpPr>
        <p:spPr>
          <a:xfrm>
            <a:off x="7772400" y="32004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30"/>
          <p:cNvSpPr/>
          <p:nvPr/>
        </p:nvSpPr>
        <p:spPr>
          <a:xfrm>
            <a:off x="8869680" y="18288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31"/>
          <p:cNvSpPr/>
          <p:nvPr/>
        </p:nvSpPr>
        <p:spPr>
          <a:xfrm>
            <a:off x="91440" y="466344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32"/>
          <p:cNvSpPr/>
          <p:nvPr/>
        </p:nvSpPr>
        <p:spPr>
          <a:xfrm>
            <a:off x="1371600" y="484632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33"/>
          <p:cNvSpPr/>
          <p:nvPr/>
        </p:nvSpPr>
        <p:spPr>
          <a:xfrm>
            <a:off x="8686800" y="457200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34"/>
          <p:cNvSpPr/>
          <p:nvPr/>
        </p:nvSpPr>
        <p:spPr>
          <a:xfrm>
            <a:off x="7315200" y="4754880"/>
            <a:ext cx="54360" cy="54360"/>
          </a:xfrm>
          <a:prstGeom prst="ellipse">
            <a:avLst/>
          </a:prstGeom>
          <a:solidFill>
            <a:srgbClr val="1A3A5C"/>
          </a:solidFill>
          <a:ln w="1260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35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36"/>
          <p:cNvSpPr/>
          <p:nvPr/>
        </p:nvSpPr>
        <p:spPr>
          <a:xfrm>
            <a:off x="320040" y="164520"/>
            <a:ext cx="383760" cy="2739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63"/>
          <p:cNvSpPr/>
          <p:nvPr/>
        </p:nvSpPr>
        <p:spPr>
          <a:xfrm>
            <a:off x="320040" y="164520"/>
            <a:ext cx="383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60E1C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64"/>
          <p:cNvSpPr/>
          <p:nvPr/>
        </p:nvSpPr>
        <p:spPr>
          <a:xfrm>
            <a:off x="777240" y="9144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Prevention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65"/>
          <p:cNvSpPr/>
          <p:nvPr/>
        </p:nvSpPr>
        <p:spPr>
          <a:xfrm>
            <a:off x="777240" y="4388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E676"/>
                </a:solidFill>
                <a:effectLst/>
                <a:uFillTx/>
                <a:latin typeface="Arial Black"/>
                <a:ea typeface="Arial Black"/>
              </a:rPr>
              <a:t>Best Practices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66"/>
          <p:cNvSpPr/>
          <p:nvPr/>
        </p:nvSpPr>
        <p:spPr>
          <a:xfrm>
            <a:off x="5029200" y="1371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0BEC5"/>
                </a:solidFill>
                <a:effectLst/>
                <a:uFillTx/>
                <a:latin typeface="Arial"/>
                <a:ea typeface="Arial"/>
              </a:rPr>
              <a:t>Your daily security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0BEC5"/>
                </a:solidFill>
                <a:effectLst/>
                <a:uFillTx/>
                <a:latin typeface="Arial"/>
                <a:ea typeface="Arial"/>
              </a:rPr>
              <a:t>habits make all the difference.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237"/>
          <p:cNvSpPr/>
          <p:nvPr/>
        </p:nvSpPr>
        <p:spPr>
          <a:xfrm>
            <a:off x="274320" y="868680"/>
            <a:ext cx="8595360" cy="360"/>
          </a:xfrm>
          <a:prstGeom prst="line">
            <a:avLst/>
          </a:prstGeom>
          <a:ln w="19080">
            <a:solidFill>
              <a:srgbClr val="1A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38"/>
          <p:cNvSpPr/>
          <p:nvPr/>
        </p:nvSpPr>
        <p:spPr>
          <a:xfrm>
            <a:off x="228600" y="987480"/>
            <a:ext cx="2742840" cy="3913200"/>
          </a:xfrm>
          <a:prstGeom prst="rect">
            <a:avLst/>
          </a:prstGeom>
          <a:solidFill>
            <a:srgbClr val="0D2137"/>
          </a:solidFill>
          <a:ln w="25560">
            <a:solidFill>
              <a:srgbClr val="00E676"/>
            </a:solidFill>
            <a:round/>
          </a:ln>
          <a:effectLst>
            <a:outerShdw blurRad="152280" dist="37674" dir="81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239"/>
          <p:cNvSpPr/>
          <p:nvPr/>
        </p:nvSpPr>
        <p:spPr>
          <a:xfrm>
            <a:off x="228600" y="2350080"/>
            <a:ext cx="2742840" cy="543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40"/>
          <p:cNvSpPr/>
          <p:nvPr/>
        </p:nvSpPr>
        <p:spPr>
          <a:xfrm>
            <a:off x="228600" y="2350080"/>
            <a:ext cx="2742840" cy="328680"/>
          </a:xfrm>
          <a:prstGeom prst="rect">
            <a:avLst/>
          </a:prstGeom>
          <a:solidFill>
            <a:srgbClr val="060E1C"/>
          </a:solidFill>
          <a:ln w="12600">
            <a:solidFill>
              <a:srgbClr val="060E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67"/>
          <p:cNvSpPr/>
          <p:nvPr/>
        </p:nvSpPr>
        <p:spPr>
          <a:xfrm>
            <a:off x="301680" y="2350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E676"/>
                </a:solidFill>
                <a:effectLst/>
                <a:uFillTx/>
                <a:latin typeface="Arial"/>
                <a:ea typeface="Arial"/>
              </a:rPr>
              <a:t>⚡  KEY PRINCIPLES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241"/>
          <p:cNvSpPr/>
          <p:nvPr/>
        </p:nvSpPr>
        <p:spPr>
          <a:xfrm>
            <a:off x="320040" y="2797920"/>
            <a:ext cx="45360" cy="3657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68"/>
          <p:cNvSpPr/>
          <p:nvPr/>
        </p:nvSpPr>
        <p:spPr>
          <a:xfrm>
            <a:off x="429840" y="27615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Treat urgency as an instant red flag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42"/>
          <p:cNvSpPr/>
          <p:nvPr/>
        </p:nvSpPr>
        <p:spPr>
          <a:xfrm>
            <a:off x="320040" y="3488400"/>
            <a:ext cx="45360" cy="3657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69"/>
          <p:cNvSpPr/>
          <p:nvPr/>
        </p:nvSpPr>
        <p:spPr>
          <a:xfrm>
            <a:off x="429840" y="34876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Download only from verified official sources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43"/>
          <p:cNvSpPr/>
          <p:nvPr/>
        </p:nvSpPr>
        <p:spPr>
          <a:xfrm>
            <a:off x="320040" y="4178880"/>
            <a:ext cx="45360" cy="3657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70"/>
          <p:cNvSpPr/>
          <p:nvPr/>
        </p:nvSpPr>
        <p:spPr>
          <a:xfrm>
            <a:off x="429840" y="41781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Verify unexpected messages, even from friends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44"/>
          <p:cNvSpPr/>
          <p:nvPr/>
        </p:nvSpPr>
        <p:spPr>
          <a:xfrm>
            <a:off x="228600" y="4846320"/>
            <a:ext cx="2742840" cy="543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245"/>
          <p:cNvSpPr/>
          <p:nvPr/>
        </p:nvSpPr>
        <p:spPr>
          <a:xfrm>
            <a:off x="3246120" y="987480"/>
            <a:ext cx="2742840" cy="3913200"/>
          </a:xfrm>
          <a:prstGeom prst="rect">
            <a:avLst/>
          </a:prstGeom>
          <a:solidFill>
            <a:srgbClr val="0D2137"/>
          </a:solidFill>
          <a:ln w="25560">
            <a:solidFill>
              <a:srgbClr val="00BCD4"/>
            </a:solidFill>
            <a:round/>
          </a:ln>
          <a:effectLst>
            <a:outerShdw blurRad="152280" dist="37674" dir="81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46"/>
          <p:cNvSpPr/>
          <p:nvPr/>
        </p:nvSpPr>
        <p:spPr>
          <a:xfrm>
            <a:off x="3246120" y="2350080"/>
            <a:ext cx="2742840" cy="54360"/>
          </a:xfrm>
          <a:prstGeom prst="rect">
            <a:avLst/>
          </a:prstGeom>
          <a:solidFill>
            <a:srgbClr val="00BCD4"/>
          </a:solidFill>
          <a:ln w="12600">
            <a:solidFill>
              <a:srgbClr val="00BC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47"/>
          <p:cNvSpPr/>
          <p:nvPr/>
        </p:nvSpPr>
        <p:spPr>
          <a:xfrm>
            <a:off x="3246120" y="2350080"/>
            <a:ext cx="2742840" cy="328680"/>
          </a:xfrm>
          <a:prstGeom prst="rect">
            <a:avLst/>
          </a:prstGeom>
          <a:solidFill>
            <a:srgbClr val="060E1C"/>
          </a:solidFill>
          <a:ln w="12600">
            <a:solidFill>
              <a:srgbClr val="060E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71"/>
          <p:cNvSpPr/>
          <p:nvPr/>
        </p:nvSpPr>
        <p:spPr>
          <a:xfrm>
            <a:off x="3319200" y="2350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BCD4"/>
                </a:solidFill>
                <a:effectLst/>
                <a:uFillTx/>
                <a:latin typeface="Arial"/>
                <a:ea typeface="Arial"/>
              </a:rPr>
              <a:t>🌐  SAFE BROWSING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48"/>
          <p:cNvSpPr/>
          <p:nvPr/>
        </p:nvSpPr>
        <p:spPr>
          <a:xfrm>
            <a:off x="3337560" y="2797920"/>
            <a:ext cx="45360" cy="365760"/>
          </a:xfrm>
          <a:prstGeom prst="rect">
            <a:avLst/>
          </a:prstGeom>
          <a:solidFill>
            <a:srgbClr val="00BCD4"/>
          </a:solidFill>
          <a:ln w="12600">
            <a:solidFill>
              <a:srgbClr val="00BC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72"/>
          <p:cNvSpPr/>
          <p:nvPr/>
        </p:nvSpPr>
        <p:spPr>
          <a:xfrm>
            <a:off x="3447360" y="27615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Never ignore browser security warnings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49"/>
          <p:cNvSpPr/>
          <p:nvPr/>
        </p:nvSpPr>
        <p:spPr>
          <a:xfrm>
            <a:off x="3337560" y="3488400"/>
            <a:ext cx="45360" cy="365760"/>
          </a:xfrm>
          <a:prstGeom prst="rect">
            <a:avLst/>
          </a:prstGeom>
          <a:solidFill>
            <a:srgbClr val="00BCD4"/>
          </a:solidFill>
          <a:ln w="12600">
            <a:solidFill>
              <a:srgbClr val="00BC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73"/>
          <p:cNvSpPr/>
          <p:nvPr/>
        </p:nvSpPr>
        <p:spPr>
          <a:xfrm>
            <a:off x="3447360" y="34876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Check URL before entering credentials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50"/>
          <p:cNvSpPr/>
          <p:nvPr/>
        </p:nvSpPr>
        <p:spPr>
          <a:xfrm>
            <a:off x="3337560" y="4106880"/>
            <a:ext cx="45360" cy="365760"/>
          </a:xfrm>
          <a:prstGeom prst="rect">
            <a:avLst/>
          </a:prstGeom>
          <a:solidFill>
            <a:srgbClr val="00BCD4"/>
          </a:solidFill>
          <a:ln w="12600">
            <a:solidFill>
              <a:srgbClr val="00BC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74"/>
          <p:cNvSpPr/>
          <p:nvPr/>
        </p:nvSpPr>
        <p:spPr>
          <a:xfrm>
            <a:off x="3447360" y="41061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Use HTTPS, look for the padlock icon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51"/>
          <p:cNvSpPr/>
          <p:nvPr/>
        </p:nvSpPr>
        <p:spPr>
          <a:xfrm>
            <a:off x="3246120" y="4846320"/>
            <a:ext cx="2742840" cy="54360"/>
          </a:xfrm>
          <a:prstGeom prst="rect">
            <a:avLst/>
          </a:prstGeom>
          <a:solidFill>
            <a:srgbClr val="00BCD4"/>
          </a:solidFill>
          <a:ln w="12600">
            <a:solidFill>
              <a:srgbClr val="00BC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52"/>
          <p:cNvSpPr/>
          <p:nvPr/>
        </p:nvSpPr>
        <p:spPr>
          <a:xfrm>
            <a:off x="6263640" y="987480"/>
            <a:ext cx="2742840" cy="3913200"/>
          </a:xfrm>
          <a:prstGeom prst="rect">
            <a:avLst/>
          </a:prstGeom>
          <a:solidFill>
            <a:srgbClr val="0D2137"/>
          </a:solidFill>
          <a:ln w="25560">
            <a:solidFill>
              <a:srgbClr val="FF9800"/>
            </a:solidFill>
            <a:round/>
          </a:ln>
          <a:effectLst>
            <a:outerShdw blurRad="152280" dist="37674" dir="81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53"/>
          <p:cNvSpPr/>
          <p:nvPr/>
        </p:nvSpPr>
        <p:spPr>
          <a:xfrm>
            <a:off x="6263640" y="2350080"/>
            <a:ext cx="2742840" cy="54360"/>
          </a:xfrm>
          <a:prstGeom prst="rect">
            <a:avLst/>
          </a:prstGeom>
          <a:solidFill>
            <a:srgbClr val="FF9800"/>
          </a:solidFill>
          <a:ln w="12600">
            <a:solidFill>
              <a:srgbClr val="FF9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54"/>
          <p:cNvSpPr/>
          <p:nvPr/>
        </p:nvSpPr>
        <p:spPr>
          <a:xfrm>
            <a:off x="6275880" y="2333880"/>
            <a:ext cx="2742840" cy="328680"/>
          </a:xfrm>
          <a:prstGeom prst="rect">
            <a:avLst/>
          </a:prstGeom>
          <a:solidFill>
            <a:srgbClr val="060E1C"/>
          </a:solidFill>
          <a:ln w="12600">
            <a:solidFill>
              <a:srgbClr val="060E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75"/>
          <p:cNvSpPr/>
          <p:nvPr/>
        </p:nvSpPr>
        <p:spPr>
          <a:xfrm>
            <a:off x="6336720" y="23500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9800"/>
                </a:solidFill>
                <a:effectLst/>
                <a:uFillTx/>
                <a:latin typeface="Arial"/>
                <a:ea typeface="Arial"/>
              </a:rPr>
              <a:t>🛡  ANTIVIRUS &amp; BACKUP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55"/>
          <p:cNvSpPr/>
          <p:nvPr/>
        </p:nvSpPr>
        <p:spPr>
          <a:xfrm>
            <a:off x="6355080" y="2797920"/>
            <a:ext cx="45360" cy="365760"/>
          </a:xfrm>
          <a:prstGeom prst="rect">
            <a:avLst/>
          </a:prstGeom>
          <a:solidFill>
            <a:srgbClr val="FF9800"/>
          </a:solidFill>
          <a:ln w="12600">
            <a:solidFill>
              <a:srgbClr val="FF9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76"/>
          <p:cNvSpPr/>
          <p:nvPr/>
        </p:nvSpPr>
        <p:spPr>
          <a:xfrm>
            <a:off x="6464880" y="27615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Run updated antivirus as your baseline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56"/>
          <p:cNvSpPr/>
          <p:nvPr/>
        </p:nvSpPr>
        <p:spPr>
          <a:xfrm>
            <a:off x="6355080" y="3488400"/>
            <a:ext cx="45360" cy="365760"/>
          </a:xfrm>
          <a:prstGeom prst="rect">
            <a:avLst/>
          </a:prstGeom>
          <a:solidFill>
            <a:srgbClr val="FF9800"/>
          </a:solidFill>
          <a:ln w="12600">
            <a:solidFill>
              <a:srgbClr val="FF9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77"/>
          <p:cNvSpPr/>
          <p:nvPr/>
        </p:nvSpPr>
        <p:spPr>
          <a:xfrm>
            <a:off x="6464880" y="34516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 up data offline regularly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57"/>
          <p:cNvSpPr/>
          <p:nvPr/>
        </p:nvSpPr>
        <p:spPr>
          <a:xfrm>
            <a:off x="6355080" y="4178880"/>
            <a:ext cx="45360" cy="365760"/>
          </a:xfrm>
          <a:prstGeom prst="rect">
            <a:avLst/>
          </a:prstGeom>
          <a:solidFill>
            <a:srgbClr val="FF9800"/>
          </a:solidFill>
          <a:ln w="12600">
            <a:solidFill>
              <a:srgbClr val="FF9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78"/>
          <p:cNvSpPr/>
          <p:nvPr/>
        </p:nvSpPr>
        <p:spPr>
          <a:xfrm>
            <a:off x="6464880" y="4142160"/>
            <a:ext cx="2541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Keep all software &amp; OS up to date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58"/>
          <p:cNvSpPr/>
          <p:nvPr/>
        </p:nvSpPr>
        <p:spPr>
          <a:xfrm>
            <a:off x="6263640" y="4846320"/>
            <a:ext cx="2742840" cy="54360"/>
          </a:xfrm>
          <a:prstGeom prst="rect">
            <a:avLst/>
          </a:prstGeom>
          <a:solidFill>
            <a:srgbClr val="FF9800"/>
          </a:solidFill>
          <a:ln w="12600">
            <a:solidFill>
              <a:srgbClr val="FF9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79"/>
          <p:cNvSpPr/>
          <p:nvPr/>
        </p:nvSpPr>
        <p:spPr>
          <a:xfrm>
            <a:off x="274320" y="491940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A5A7A"/>
                </a:solidFill>
                <a:effectLst/>
                <a:uFillTx/>
                <a:latin typeface="Arial"/>
                <a:ea typeface="Arial"/>
              </a:rPr>
              <a:t>Cybersecurity Awareness  |  Prevention &amp; Best Practices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59"/>
          <p:cNvSpPr/>
          <p:nvPr/>
        </p:nvSpPr>
        <p:spPr>
          <a:xfrm>
            <a:off x="0" y="5097960"/>
            <a:ext cx="9143640" cy="4536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Picture 1"/>
          <p:cNvPicPr/>
          <p:nvPr/>
        </p:nvPicPr>
        <p:blipFill>
          <a:blip r:embed="rId3"/>
          <a:stretch/>
        </p:blipFill>
        <p:spPr>
          <a:xfrm>
            <a:off x="246960" y="996840"/>
            <a:ext cx="2706480" cy="1357920"/>
          </a:xfrm>
          <a:prstGeom prst="rect">
            <a:avLst/>
          </a:prstGeom>
          <a:noFill/>
          <a:ln w="0">
            <a:solidFill>
              <a:srgbClr val="00B050"/>
            </a:solidFill>
          </a:ln>
        </p:spPr>
      </p:pic>
      <p:pic>
        <p:nvPicPr>
          <p:cNvPr id="533" name="Picture 2"/>
          <p:cNvPicPr/>
          <p:nvPr/>
        </p:nvPicPr>
        <p:blipFill>
          <a:blip r:embed="rId4"/>
          <a:stretch/>
        </p:blipFill>
        <p:spPr>
          <a:xfrm>
            <a:off x="6282000" y="1005840"/>
            <a:ext cx="2706480" cy="133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4" name="Picture 3"/>
          <p:cNvPicPr/>
          <p:nvPr/>
        </p:nvPicPr>
        <p:blipFill>
          <a:blip r:embed="rId5"/>
          <a:stretch/>
        </p:blipFill>
        <p:spPr>
          <a:xfrm>
            <a:off x="3273480" y="1017360"/>
            <a:ext cx="2700360" cy="133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FooterBg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111820"/>
          </a:solidFill>
          <a:ln w="12600">
            <a:solidFill>
              <a:srgbClr val="1118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6" name="GreenLine"/>
          <p:cNvSpPr/>
          <p:nvPr/>
        </p:nvSpPr>
        <p:spPr>
          <a:xfrm>
            <a:off x="0" y="4937760"/>
            <a:ext cx="914256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7" name="TitleBg"/>
          <p:cNvSpPr/>
          <p:nvPr/>
        </p:nvSpPr>
        <p:spPr>
          <a:xfrm>
            <a:off x="0" y="0"/>
            <a:ext cx="9142560" cy="1049400"/>
          </a:xfrm>
          <a:prstGeom prst="rect">
            <a:avLst/>
          </a:prstGeom>
          <a:solidFill>
            <a:srgbClr val="0A0F1A"/>
          </a:solidFill>
          <a:ln w="12600">
            <a:solidFill>
              <a:srgbClr val="1A2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8" name="TitleBar"/>
          <p:cNvSpPr/>
          <p:nvPr/>
        </p:nvSpPr>
        <p:spPr>
          <a:xfrm>
            <a:off x="0" y="0"/>
            <a:ext cx="9142560" cy="39240"/>
          </a:xfrm>
          <a:prstGeom prst="rect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5040" rIns="90000" bIns="-50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9" name="BadgeBg"/>
          <p:cNvSpPr/>
          <p:nvPr/>
        </p:nvSpPr>
        <p:spPr>
          <a:xfrm>
            <a:off x="274320" y="100080"/>
            <a:ext cx="501480" cy="272880"/>
          </a:xfrm>
          <a:prstGeom prst="rect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0" name="BadgeNum"/>
          <p:cNvSpPr/>
          <p:nvPr/>
        </p:nvSpPr>
        <p:spPr>
          <a:xfrm>
            <a:off x="274320" y="100080"/>
            <a:ext cx="5014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itle1"/>
          <p:cNvSpPr/>
          <p:nvPr/>
        </p:nvSpPr>
        <p:spPr>
          <a:xfrm>
            <a:off x="900000" y="289440"/>
            <a:ext cx="5841763" cy="3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u="none" strike="noStrike" dirty="0">
                <a:solidFill>
                  <a:srgbClr val="FFFFFF"/>
                </a:solidFill>
                <a:effectLst/>
                <a:uFillTx/>
                <a:latin typeface="Arial Black"/>
              </a:rPr>
              <a:t>Two-Factor Authentication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itleSub"/>
          <p:cNvSpPr/>
          <p:nvPr/>
        </p:nvSpPr>
        <p:spPr>
          <a:xfrm>
            <a:off x="885746" y="721620"/>
            <a:ext cx="39992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93C5FD"/>
                </a:solidFill>
                <a:effectLst/>
                <a:uFillTx/>
                <a:latin typeface="Calibri"/>
              </a:rPr>
              <a:t>How a second factor blocks attackers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LPanel"/>
          <p:cNvSpPr/>
          <p:nvPr/>
        </p:nvSpPr>
        <p:spPr>
          <a:xfrm>
            <a:off x="274320" y="1100160"/>
            <a:ext cx="4159440" cy="3699360"/>
          </a:xfrm>
          <a:prstGeom prst="rect">
            <a:avLst/>
          </a:prstGeom>
          <a:solidFill>
            <a:srgbClr val="1A0808"/>
          </a:solidFill>
          <a:ln w="25560">
            <a:solidFill>
              <a:srgbClr val="4A10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4" name="LTop"/>
          <p:cNvSpPr/>
          <p:nvPr/>
        </p:nvSpPr>
        <p:spPr>
          <a:xfrm>
            <a:off x="274320" y="1100160"/>
            <a:ext cx="4159440" cy="79200"/>
          </a:xfrm>
          <a:prstGeom prst="rect">
            <a:avLst/>
          </a:prstGeom>
          <a:solidFill>
            <a:srgbClr val="DC2626"/>
          </a:solidFill>
          <a:ln w="126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4920" rIns="90000" bIns="34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5" name="LTopTxt"/>
          <p:cNvSpPr/>
          <p:nvPr/>
        </p:nvSpPr>
        <p:spPr>
          <a:xfrm>
            <a:off x="274320" y="1143000"/>
            <a:ext cx="4159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❌  WITHOUT 2FA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LIcon"/>
          <p:cNvSpPr/>
          <p:nvPr/>
        </p:nvSpPr>
        <p:spPr>
          <a:xfrm>
            <a:off x="274320" y="1688040"/>
            <a:ext cx="415944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7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🔓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LScenario"/>
          <p:cNvSpPr/>
          <p:nvPr/>
        </p:nvSpPr>
        <p:spPr>
          <a:xfrm>
            <a:off x="424440" y="2499840"/>
            <a:ext cx="385956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FCA5A5"/>
                </a:solidFill>
                <a:effectLst/>
                <a:uFillTx/>
                <a:latin typeface="Calibri"/>
              </a:rPr>
              <a:t>SCENARIO: Hacker steals your Gmail password via phishing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LDiv"/>
          <p:cNvSpPr/>
          <p:nvPr/>
        </p:nvSpPr>
        <p:spPr>
          <a:xfrm>
            <a:off x="424440" y="2728080"/>
            <a:ext cx="3859560" cy="9360"/>
          </a:xfrm>
          <a:prstGeom prst="rect">
            <a:avLst/>
          </a:prstGeom>
          <a:solidFill>
            <a:srgbClr val="4A1010"/>
          </a:solidFill>
          <a:ln w="12600">
            <a:solidFill>
              <a:srgbClr val="4A10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920" rIns="90000" bIns="-34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9" name="LResult"/>
          <p:cNvSpPr/>
          <p:nvPr/>
        </p:nvSpPr>
        <p:spPr>
          <a:xfrm>
            <a:off x="424440" y="2742120"/>
            <a:ext cx="385956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RESULT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LResultTxt"/>
          <p:cNvSpPr/>
          <p:nvPr/>
        </p:nvSpPr>
        <p:spPr>
          <a:xfrm>
            <a:off x="424440" y="2991960"/>
            <a:ext cx="38595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Account compromised instantly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LImpacts"/>
          <p:cNvSpPr/>
          <p:nvPr/>
        </p:nvSpPr>
        <p:spPr>
          <a:xfrm>
            <a:off x="424440" y="3368160"/>
            <a:ext cx="3859560" cy="122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Full account takeover</a:t>
            </a:r>
            <a:br>
              <a:rPr sz="1400"/>
            </a:b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9"/>
              </a:spcBef>
            </a:pPr>
            <a:r>
              <a:rPr lang="en-US" sz="14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Emails, contacts &amp; data exposed</a:t>
            </a:r>
            <a:br>
              <a:rPr sz="1400"/>
            </a:b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49"/>
              </a:spcBef>
            </a:pPr>
            <a:r>
              <a:rPr lang="en-US" sz="1400" b="0" u="none" strike="noStrike">
                <a:solidFill>
                  <a:srgbClr val="FC8181"/>
                </a:solidFill>
                <a:effectLst/>
                <a:uFillTx/>
                <a:latin typeface="Calibri"/>
              </a:rPr>
              <a:t>💀  Identity theft risk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Divider"/>
          <p:cNvSpPr/>
          <p:nvPr/>
        </p:nvSpPr>
        <p:spPr>
          <a:xfrm>
            <a:off x="4530600" y="2450160"/>
            <a:ext cx="76320" cy="999360"/>
          </a:xfrm>
          <a:prstGeom prst="rect">
            <a:avLst/>
          </a:prstGeom>
          <a:solidFill>
            <a:srgbClr val="1A2035"/>
          </a:solidFill>
          <a:ln w="12600">
            <a:solidFill>
              <a:srgbClr val="1A20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3" name="VsTxt"/>
          <p:cNvSpPr/>
          <p:nvPr/>
        </p:nvSpPr>
        <p:spPr>
          <a:xfrm>
            <a:off x="4398480" y="2750040"/>
            <a:ext cx="373680" cy="39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4B5563"/>
                </a:solidFill>
                <a:effectLst/>
                <a:uFillTx/>
                <a:latin typeface="Arial Black"/>
              </a:rPr>
              <a:t>VS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RPanel"/>
          <p:cNvSpPr/>
          <p:nvPr/>
        </p:nvSpPr>
        <p:spPr>
          <a:xfrm>
            <a:off x="4708800" y="1100160"/>
            <a:ext cx="4159440" cy="3699360"/>
          </a:xfrm>
          <a:prstGeom prst="rect">
            <a:avLst/>
          </a:prstGeom>
          <a:solidFill>
            <a:srgbClr val="051020"/>
          </a:solidFill>
          <a:ln w="25560">
            <a:solidFill>
              <a:srgbClr val="1A3A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5" name="RTop"/>
          <p:cNvSpPr/>
          <p:nvPr/>
        </p:nvSpPr>
        <p:spPr>
          <a:xfrm>
            <a:off x="4708800" y="1100160"/>
            <a:ext cx="4159440" cy="79200"/>
          </a:xfrm>
          <a:prstGeom prst="rect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4920" rIns="90000" bIns="34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6" name="RTopTxt"/>
          <p:cNvSpPr/>
          <p:nvPr/>
        </p:nvSpPr>
        <p:spPr>
          <a:xfrm>
            <a:off x="4708800" y="1143360"/>
            <a:ext cx="4159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 WITH 2FA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RIcon"/>
          <p:cNvSpPr/>
          <p:nvPr/>
        </p:nvSpPr>
        <p:spPr>
          <a:xfrm>
            <a:off x="4708800" y="1652040"/>
            <a:ext cx="4159440" cy="49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7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🔒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RScenario"/>
          <p:cNvSpPr/>
          <p:nvPr/>
        </p:nvSpPr>
        <p:spPr>
          <a:xfrm>
            <a:off x="4728600" y="2463840"/>
            <a:ext cx="41148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u="none" strike="noStrike" dirty="0">
                <a:solidFill>
                  <a:srgbClr val="93C5FD"/>
                </a:solidFill>
                <a:effectLst/>
                <a:uFillTx/>
                <a:latin typeface="Calibri"/>
              </a:rPr>
              <a:t>SCENARIO: Hacker steals your Gmail password via phishing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RDiv"/>
          <p:cNvSpPr/>
          <p:nvPr/>
        </p:nvSpPr>
        <p:spPr>
          <a:xfrm>
            <a:off x="4858920" y="2692080"/>
            <a:ext cx="3859560" cy="9360"/>
          </a:xfrm>
          <a:prstGeom prst="rect">
            <a:avLst/>
          </a:prstGeom>
          <a:solidFill>
            <a:srgbClr val="1A3A6A"/>
          </a:solidFill>
          <a:ln w="12600">
            <a:solidFill>
              <a:srgbClr val="1A3A6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920" rIns="90000" bIns="-34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0" name="RResult"/>
          <p:cNvSpPr/>
          <p:nvPr/>
        </p:nvSpPr>
        <p:spPr>
          <a:xfrm>
            <a:off x="4858920" y="2622600"/>
            <a:ext cx="3859560" cy="44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60A5FA"/>
                </a:solidFill>
                <a:effectLst/>
                <a:uFillTx/>
                <a:latin typeface="Calibri"/>
              </a:rPr>
              <a:t>RESULT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RResultTxt"/>
          <p:cNvSpPr/>
          <p:nvPr/>
        </p:nvSpPr>
        <p:spPr>
          <a:xfrm>
            <a:off x="4858920" y="2955960"/>
            <a:ext cx="38595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Hacker BLOCKED : OTP unreachable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Benefits"/>
          <p:cNvSpPr/>
          <p:nvPr/>
        </p:nvSpPr>
        <p:spPr>
          <a:xfrm>
            <a:off x="4858920" y="3368160"/>
            <a:ext cx="3859560" cy="13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 dirty="0">
                <a:solidFill>
                  <a:srgbClr val="A7F3D0"/>
                </a:solidFill>
                <a:effectLst/>
                <a:uFillTx/>
                <a:latin typeface="Calibri"/>
              </a:rPr>
              <a:t>✅  Password theft alone can't bypass 2FA</a:t>
            </a:r>
            <a:br>
              <a:rPr sz="1400" dirty="0"/>
            </a:b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 dirty="0">
                <a:solidFill>
                  <a:srgbClr val="A7F3D0"/>
                </a:solidFill>
                <a:effectLst/>
                <a:uFillTx/>
                <a:latin typeface="Calibri"/>
              </a:rPr>
              <a:t>✅  Use authenticator app, not SMS</a:t>
            </a:r>
            <a:br>
              <a:rPr sz="1400" dirty="0"/>
            </a:b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en-US" sz="1400" b="0" u="none" strike="noStrike" dirty="0">
                <a:solidFill>
                  <a:srgbClr val="A7F3D0"/>
                </a:solidFill>
                <a:effectLst/>
                <a:uFillTx/>
                <a:latin typeface="Calibri"/>
              </a:rPr>
              <a:t>✅  Hardware keys = strongest safety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Footer"/>
          <p:cNvSpPr/>
          <p:nvPr/>
        </p:nvSpPr>
        <p:spPr>
          <a:xfrm>
            <a:off x="137160" y="4988160"/>
            <a:ext cx="63993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Cybersecurity Awareness  |  Two-Factor Authentication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BgLine1"/>
          <p:cNvSpPr/>
          <p:nvPr/>
        </p:nvSpPr>
        <p:spPr>
          <a:xfrm>
            <a:off x="0" y="0"/>
            <a:ext cx="9142560" cy="7560"/>
          </a:xfrm>
          <a:prstGeom prst="rect">
            <a:avLst/>
          </a:prstGeom>
          <a:solidFill>
            <a:srgbClr val="1A2332">
              <a:alpha val="40000"/>
            </a:srgbClr>
          </a:solidFill>
          <a:ln w="12600">
            <a:solidFill>
              <a:srgbClr val="1A23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720" rIns="90000" bIns="-36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LeftBar"/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BottomBar"/>
          <p:cNvSpPr/>
          <p:nvPr/>
        </p:nvSpPr>
        <p:spPr>
          <a:xfrm>
            <a:off x="0" y="4937760"/>
            <a:ext cx="9142560" cy="204480"/>
          </a:xfrm>
          <a:prstGeom prst="rect">
            <a:avLst/>
          </a:prstGeom>
          <a:solidFill>
            <a:srgbClr val="111820"/>
          </a:solidFill>
          <a:ln w="12600">
            <a:solidFill>
              <a:srgbClr val="1118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GreenLine"/>
          <p:cNvSpPr/>
          <p:nvPr/>
        </p:nvSpPr>
        <p:spPr>
          <a:xfrm>
            <a:off x="0" y="4937760"/>
            <a:ext cx="914256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ircle1"/>
          <p:cNvSpPr/>
          <p:nvPr/>
        </p:nvSpPr>
        <p:spPr>
          <a:xfrm>
            <a:off x="5577840" y="1371600"/>
            <a:ext cx="2010240" cy="20102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Circle2"/>
          <p:cNvSpPr/>
          <p:nvPr/>
        </p:nvSpPr>
        <p:spPr>
          <a:xfrm>
            <a:off x="5120640" y="914400"/>
            <a:ext cx="2924640" cy="29246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Circle3"/>
          <p:cNvSpPr/>
          <p:nvPr/>
        </p:nvSpPr>
        <p:spPr>
          <a:xfrm>
            <a:off x="4663440" y="457200"/>
            <a:ext cx="3839040" cy="3839040"/>
          </a:xfrm>
          <a:prstGeom prst="ellipse">
            <a:avLst/>
          </a:prstGeom>
          <a:noFill/>
          <a:ln w="12600">
            <a:solidFill>
              <a:srgbClr val="1C3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lideBadge"/>
          <p:cNvSpPr/>
          <p:nvPr/>
        </p:nvSpPr>
        <p:spPr>
          <a:xfrm>
            <a:off x="182880" y="164520"/>
            <a:ext cx="410040" cy="254520"/>
          </a:xfrm>
          <a:prstGeom prst="rect">
            <a:avLst/>
          </a:prstGeom>
          <a:solidFill>
            <a:srgbClr val="E63946"/>
          </a:solidFill>
          <a:ln w="126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lideNum"/>
          <p:cNvSpPr/>
          <p:nvPr/>
        </p:nvSpPr>
        <p:spPr>
          <a:xfrm>
            <a:off x="182880" y="164520"/>
            <a:ext cx="41004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ConclusionLabel"/>
          <p:cNvSpPr/>
          <p:nvPr/>
        </p:nvSpPr>
        <p:spPr>
          <a:xfrm>
            <a:off x="228600" y="500040"/>
            <a:ext cx="2499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CONCLUSION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MainTitle1"/>
          <p:cNvSpPr/>
          <p:nvPr/>
        </p:nvSpPr>
        <p:spPr>
          <a:xfrm>
            <a:off x="228600" y="799920"/>
            <a:ext cx="4199400" cy="54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</a:rPr>
              <a:t>Stay Vigilant,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MainTitle2"/>
          <p:cNvSpPr/>
          <p:nvPr/>
        </p:nvSpPr>
        <p:spPr>
          <a:xfrm>
            <a:off x="228600" y="1339920"/>
            <a:ext cx="4199400" cy="54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u="none" strike="noStrike">
                <a:solidFill>
                  <a:srgbClr val="E63946"/>
                </a:solidFill>
                <a:effectLst/>
                <a:uFillTx/>
                <a:latin typeface="Arial Black"/>
              </a:rPr>
              <a:t>Stay Safe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eparator"/>
          <p:cNvSpPr/>
          <p:nvPr/>
        </p:nvSpPr>
        <p:spPr>
          <a:xfrm>
            <a:off x="228600" y="1959840"/>
            <a:ext cx="1644480" cy="35280"/>
          </a:xfrm>
          <a:prstGeom prst="rect">
            <a:avLst/>
          </a:prstGeom>
          <a:solidFill>
            <a:srgbClr val="00E676"/>
          </a:solidFill>
          <a:ln w="12600">
            <a:solidFill>
              <a:srgbClr val="00E67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9000" rIns="90000" bIns="-9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akeaways"/>
          <p:cNvSpPr/>
          <p:nvPr/>
        </p:nvSpPr>
        <p:spPr>
          <a:xfrm>
            <a:off x="228600" y="2181600"/>
            <a:ext cx="3977640" cy="251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200"/>
              </a:lnSpc>
              <a:spcBef>
                <a:spcPts val="400"/>
              </a:spcBef>
            </a:pPr>
            <a:r>
              <a:rPr lang="en-US" sz="1600" b="1" u="none" strike="noStrike" dirty="0">
                <a:solidFill>
                  <a:srgbClr val="00E676"/>
                </a:solidFill>
                <a:effectLst/>
                <a:uFillTx/>
                <a:latin typeface="Calibri"/>
              </a:rPr>
              <a:t>⚡  </a:t>
            </a:r>
            <a:r>
              <a:rPr lang="en-US" sz="1600" b="0" u="none" strike="noStrike" dirty="0">
                <a:solidFill>
                  <a:srgbClr val="E2E8F0"/>
                </a:solidFill>
                <a:effectLst/>
                <a:uFillTx/>
                <a:latin typeface="Calibri"/>
              </a:rPr>
              <a:t>Think before you click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spcBef>
                <a:spcPts val="400"/>
              </a:spcBef>
            </a:pPr>
            <a:r>
              <a:rPr lang="en-US" sz="1600" b="1" u="none" strike="noStrike" dirty="0">
                <a:solidFill>
                  <a:srgbClr val="00E676"/>
                </a:solidFill>
                <a:effectLst/>
                <a:uFillTx/>
                <a:latin typeface="Calibri"/>
              </a:rPr>
              <a:t>⚡  </a:t>
            </a:r>
            <a:r>
              <a:rPr lang="en-US" sz="1600" b="0" u="none" strike="noStrike" dirty="0">
                <a:solidFill>
                  <a:srgbClr val="E2E8F0"/>
                </a:solidFill>
                <a:effectLst/>
                <a:uFillTx/>
                <a:latin typeface="Calibri"/>
              </a:rPr>
              <a:t>Trust your instincts, if it feels wrong, it probably is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QuestionBg"/>
          <p:cNvSpPr/>
          <p:nvPr/>
        </p:nvSpPr>
        <p:spPr>
          <a:xfrm>
            <a:off x="240120" y="4434300"/>
            <a:ext cx="3977640" cy="329760"/>
          </a:xfrm>
          <a:prstGeom prst="rect">
            <a:avLst/>
          </a:prstGeom>
          <a:solidFill>
            <a:srgbClr val="1A1A2A"/>
          </a:solidFill>
          <a:ln w="20160">
            <a:solidFill>
              <a:srgbClr val="F6AD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QuestionTxt"/>
          <p:cNvSpPr/>
          <p:nvPr/>
        </p:nvSpPr>
        <p:spPr>
          <a:xfrm>
            <a:off x="228600" y="4512870"/>
            <a:ext cx="4599360" cy="19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0040" rIns="90000" bIns="5004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i="1" u="none" strike="noStrike" dirty="0">
                <a:solidFill>
                  <a:srgbClr val="F6AD55"/>
                </a:solidFill>
                <a:effectLst/>
                <a:uFillTx/>
                <a:latin typeface="Calibri"/>
              </a:rPr>
              <a:t>👉  “What security habit will you change from today?”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Footer"/>
          <p:cNvSpPr/>
          <p:nvPr/>
        </p:nvSpPr>
        <p:spPr>
          <a:xfrm>
            <a:off x="137160" y="4955400"/>
            <a:ext cx="639936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</a:rPr>
              <a:t>Cybersecurity Awareness  |  Digital Safety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80368-2314-CC92-AF59-3086699AE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247" y="155520"/>
            <a:ext cx="4647313" cy="4686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Words>890</Words>
  <Application>Microsoft Office PowerPoint</Application>
  <PresentationFormat>On-screen Show (16:9)</PresentationFormat>
  <Paragraphs>262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Consolas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Ahmed Mustafa</cp:lastModifiedBy>
  <cp:revision>85</cp:revision>
  <dcterms:created xsi:type="dcterms:W3CDTF">2026-02-27T19:04:51Z</dcterms:created>
  <dcterms:modified xsi:type="dcterms:W3CDTF">2026-03-02T18:50:20Z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(16:9)</vt:lpwstr>
  </property>
  <property fmtid="{D5CDD505-2E9C-101B-9397-08002B2CF9AE}" pid="4" name="Slides">
    <vt:r8>1</vt:r8>
  </property>
</Properties>
</file>