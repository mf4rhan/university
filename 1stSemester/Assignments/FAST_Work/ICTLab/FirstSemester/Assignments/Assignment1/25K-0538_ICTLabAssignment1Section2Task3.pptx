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87" d="100"/>
          <a:sy n="87" d="100"/>
        </p:scale>
        <p:origin x="1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76FF18-4317-4A6A-9134-FE1D7812E27E}" type="doc">
      <dgm:prSet loTypeId="urn:microsoft.com/office/officeart/2011/layout/CircleProcess" loCatId="process" qsTypeId="urn:microsoft.com/office/officeart/2005/8/quickstyle/simple1" qsCatId="simple" csTypeId="urn:microsoft.com/office/officeart/2005/8/colors/accent1_2" csCatId="accent1" phldr="1"/>
      <dgm:spPr/>
    </dgm:pt>
    <dgm:pt modelId="{368381F7-C348-485B-9B44-FC41AAF28DC3}">
      <dgm:prSet phldrT="[Text]" phldr="1"/>
      <dgm:spPr/>
      <dgm:t>
        <a:bodyPr/>
        <a:lstStyle/>
        <a:p>
          <a:endParaRPr lang="en-US" dirty="0"/>
        </a:p>
      </dgm:t>
    </dgm:pt>
    <dgm:pt modelId="{39EA2B3F-384C-49F8-8E7E-4BEC250EBED7}" type="parTrans" cxnId="{BD420B10-C92B-4877-8225-2B84C995728C}">
      <dgm:prSet/>
      <dgm:spPr/>
      <dgm:t>
        <a:bodyPr/>
        <a:lstStyle/>
        <a:p>
          <a:endParaRPr lang="en-US"/>
        </a:p>
      </dgm:t>
    </dgm:pt>
    <dgm:pt modelId="{D458608F-F6A0-4B35-A927-D7AFBDE07E51}" type="sibTrans" cxnId="{BD420B10-C92B-4877-8225-2B84C995728C}">
      <dgm:prSet/>
      <dgm:spPr/>
      <dgm:t>
        <a:bodyPr/>
        <a:lstStyle/>
        <a:p>
          <a:endParaRPr lang="en-US"/>
        </a:p>
      </dgm:t>
    </dgm:pt>
    <dgm:pt modelId="{16569557-C3BF-4CBE-8A3C-7791BF611A73}">
      <dgm:prSet phldrT="[Text]" phldr="1"/>
      <dgm:spPr/>
      <dgm:t>
        <a:bodyPr/>
        <a:lstStyle/>
        <a:p>
          <a:endParaRPr lang="en-US" dirty="0"/>
        </a:p>
      </dgm:t>
    </dgm:pt>
    <dgm:pt modelId="{1B435A41-A7F3-41AE-87DC-795C92957E4C}" type="parTrans" cxnId="{F627CBD7-86D1-464D-B718-C2933CDE4950}">
      <dgm:prSet/>
      <dgm:spPr/>
      <dgm:t>
        <a:bodyPr/>
        <a:lstStyle/>
        <a:p>
          <a:endParaRPr lang="en-US"/>
        </a:p>
      </dgm:t>
    </dgm:pt>
    <dgm:pt modelId="{EE545364-212A-4364-9637-7A313DE5B914}" type="sibTrans" cxnId="{F627CBD7-86D1-464D-B718-C2933CDE4950}">
      <dgm:prSet/>
      <dgm:spPr/>
      <dgm:t>
        <a:bodyPr/>
        <a:lstStyle/>
        <a:p>
          <a:endParaRPr lang="en-US"/>
        </a:p>
      </dgm:t>
    </dgm:pt>
    <dgm:pt modelId="{974C63A4-E98D-4FF3-8A15-16E12FC1442F}">
      <dgm:prSet phldrT="[Text]" phldr="1"/>
      <dgm:spPr/>
      <dgm:t>
        <a:bodyPr/>
        <a:lstStyle/>
        <a:p>
          <a:endParaRPr lang="en-US" dirty="0"/>
        </a:p>
      </dgm:t>
    </dgm:pt>
    <dgm:pt modelId="{16D9518B-7DE0-40C8-9319-3DA652646B40}" type="parTrans" cxnId="{AB2ED6F7-CC22-408C-BF75-5648557529E9}">
      <dgm:prSet/>
      <dgm:spPr/>
      <dgm:t>
        <a:bodyPr/>
        <a:lstStyle/>
        <a:p>
          <a:endParaRPr lang="en-US"/>
        </a:p>
      </dgm:t>
    </dgm:pt>
    <dgm:pt modelId="{9DDBDDB9-ACF1-4E54-A12F-578CD2ABB954}" type="sibTrans" cxnId="{AB2ED6F7-CC22-408C-BF75-5648557529E9}">
      <dgm:prSet/>
      <dgm:spPr/>
      <dgm:t>
        <a:bodyPr/>
        <a:lstStyle/>
        <a:p>
          <a:endParaRPr lang="en-US"/>
        </a:p>
      </dgm:t>
    </dgm:pt>
    <dgm:pt modelId="{0C8C8FB1-F161-4B8D-A65E-ED0CF6B979C7}">
      <dgm:prSet/>
      <dgm:spPr/>
      <dgm:t>
        <a:bodyPr/>
        <a:lstStyle/>
        <a:p>
          <a:endParaRPr lang="en-US"/>
        </a:p>
      </dgm:t>
    </dgm:pt>
    <dgm:pt modelId="{A2192B6B-8089-40DC-B4C8-402EDE72DA9A}" type="parTrans" cxnId="{E23427E2-78E8-4DEB-9562-8C56E6279754}">
      <dgm:prSet/>
      <dgm:spPr/>
      <dgm:t>
        <a:bodyPr/>
        <a:lstStyle/>
        <a:p>
          <a:endParaRPr lang="en-US"/>
        </a:p>
      </dgm:t>
    </dgm:pt>
    <dgm:pt modelId="{15A2AA5C-DE6C-4982-8DB6-9DE9982D9AE7}" type="sibTrans" cxnId="{E23427E2-78E8-4DEB-9562-8C56E6279754}">
      <dgm:prSet/>
      <dgm:spPr/>
      <dgm:t>
        <a:bodyPr/>
        <a:lstStyle/>
        <a:p>
          <a:endParaRPr lang="en-US"/>
        </a:p>
      </dgm:t>
    </dgm:pt>
    <dgm:pt modelId="{4151CCD5-5EA9-4663-83BA-C84AABFBD5D2}" type="pres">
      <dgm:prSet presAssocID="{0176FF18-4317-4A6A-9134-FE1D7812E27E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09A632A4-40A8-4320-95EC-15412C8F9788}" type="pres">
      <dgm:prSet presAssocID="{0C8C8FB1-F161-4B8D-A65E-ED0CF6B979C7}" presName="Accent4" presStyleCnt="0"/>
      <dgm:spPr/>
    </dgm:pt>
    <dgm:pt modelId="{719377B3-89AE-4968-BF01-80BD70E42D06}" type="pres">
      <dgm:prSet presAssocID="{0C8C8FB1-F161-4B8D-A65E-ED0CF6B979C7}" presName="Accent" presStyleLbl="node1" presStyleIdx="0" presStyleCnt="4"/>
      <dgm:spPr/>
    </dgm:pt>
    <dgm:pt modelId="{6B9375C9-8E22-4040-B1F1-8FD10399F319}" type="pres">
      <dgm:prSet presAssocID="{0C8C8FB1-F161-4B8D-A65E-ED0CF6B979C7}" presName="ParentBackground4" presStyleCnt="0"/>
      <dgm:spPr/>
    </dgm:pt>
    <dgm:pt modelId="{6426C677-5175-43CA-B150-7BCD1045D052}" type="pres">
      <dgm:prSet presAssocID="{0C8C8FB1-F161-4B8D-A65E-ED0CF6B979C7}" presName="ParentBackground" presStyleLbl="fgAcc1" presStyleIdx="0" presStyleCnt="4"/>
      <dgm:spPr/>
    </dgm:pt>
    <dgm:pt modelId="{12D9486F-D4DE-4373-AE40-E87E61FAE69B}" type="pres">
      <dgm:prSet presAssocID="{0C8C8FB1-F161-4B8D-A65E-ED0CF6B979C7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35946994-090F-452E-9B5D-9199D6E57CC1}" type="pres">
      <dgm:prSet presAssocID="{974C63A4-E98D-4FF3-8A15-16E12FC1442F}" presName="Accent3" presStyleCnt="0"/>
      <dgm:spPr/>
    </dgm:pt>
    <dgm:pt modelId="{D98B3297-20AF-4C58-8790-DA4A87C7E9F6}" type="pres">
      <dgm:prSet presAssocID="{974C63A4-E98D-4FF3-8A15-16E12FC1442F}" presName="Accent" presStyleLbl="node1" presStyleIdx="1" presStyleCnt="4"/>
      <dgm:spPr/>
    </dgm:pt>
    <dgm:pt modelId="{C8935B18-9F2D-4E29-A33D-C289E2147A4D}" type="pres">
      <dgm:prSet presAssocID="{974C63A4-E98D-4FF3-8A15-16E12FC1442F}" presName="ParentBackground3" presStyleCnt="0"/>
      <dgm:spPr/>
    </dgm:pt>
    <dgm:pt modelId="{84DC64DE-EF40-4F2A-9269-BEF6EA970240}" type="pres">
      <dgm:prSet presAssocID="{974C63A4-E98D-4FF3-8A15-16E12FC1442F}" presName="ParentBackground" presStyleLbl="fgAcc1" presStyleIdx="1" presStyleCnt="4"/>
      <dgm:spPr/>
    </dgm:pt>
    <dgm:pt modelId="{854B8987-203D-4550-BA92-1D0B2CCE0D30}" type="pres">
      <dgm:prSet presAssocID="{974C63A4-E98D-4FF3-8A15-16E12FC1442F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23B76472-A21B-4593-93EA-79ADAF242F69}" type="pres">
      <dgm:prSet presAssocID="{16569557-C3BF-4CBE-8A3C-7791BF611A73}" presName="Accent2" presStyleCnt="0"/>
      <dgm:spPr/>
    </dgm:pt>
    <dgm:pt modelId="{69098D80-8C9F-42A2-A904-2272AAC81431}" type="pres">
      <dgm:prSet presAssocID="{16569557-C3BF-4CBE-8A3C-7791BF611A73}" presName="Accent" presStyleLbl="node1" presStyleIdx="2" presStyleCnt="4"/>
      <dgm:spPr/>
    </dgm:pt>
    <dgm:pt modelId="{AB1304DC-FE37-4BFF-85ED-6210B6FFB916}" type="pres">
      <dgm:prSet presAssocID="{16569557-C3BF-4CBE-8A3C-7791BF611A73}" presName="ParentBackground2" presStyleCnt="0"/>
      <dgm:spPr/>
    </dgm:pt>
    <dgm:pt modelId="{773A30C2-8CAC-4453-9202-3B44F2823DA3}" type="pres">
      <dgm:prSet presAssocID="{16569557-C3BF-4CBE-8A3C-7791BF611A73}" presName="ParentBackground" presStyleLbl="fgAcc1" presStyleIdx="2" presStyleCnt="4"/>
      <dgm:spPr/>
    </dgm:pt>
    <dgm:pt modelId="{59884D49-A278-4ABA-8C13-DA3496FD7774}" type="pres">
      <dgm:prSet presAssocID="{16569557-C3BF-4CBE-8A3C-7791BF611A73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32347A91-460F-47A8-8CEA-03C5770248BF}" type="pres">
      <dgm:prSet presAssocID="{368381F7-C348-485B-9B44-FC41AAF28DC3}" presName="Accent1" presStyleCnt="0"/>
      <dgm:spPr/>
    </dgm:pt>
    <dgm:pt modelId="{D61E8E44-B3C5-4DBC-9321-6B9CCFB0952E}" type="pres">
      <dgm:prSet presAssocID="{368381F7-C348-485B-9B44-FC41AAF28DC3}" presName="Accent" presStyleLbl="node1" presStyleIdx="3" presStyleCnt="4"/>
      <dgm:spPr/>
    </dgm:pt>
    <dgm:pt modelId="{9B30F765-8B89-434D-B7A0-64B499628046}" type="pres">
      <dgm:prSet presAssocID="{368381F7-C348-485B-9B44-FC41AAF28DC3}" presName="ParentBackground1" presStyleCnt="0"/>
      <dgm:spPr/>
    </dgm:pt>
    <dgm:pt modelId="{5578DEE5-4E8E-4DEE-9280-40E664C1B4FA}" type="pres">
      <dgm:prSet presAssocID="{368381F7-C348-485B-9B44-FC41AAF28DC3}" presName="ParentBackground" presStyleLbl="fgAcc1" presStyleIdx="3" presStyleCnt="4"/>
      <dgm:spPr/>
    </dgm:pt>
    <dgm:pt modelId="{3623C94D-7EB1-498C-9392-DC9CF5A6FE43}" type="pres">
      <dgm:prSet presAssocID="{368381F7-C348-485B-9B44-FC41AAF28DC3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D7EB3B03-ECF8-4C2F-BF09-3AC24C4000F1}" type="presOf" srcId="{974C63A4-E98D-4FF3-8A15-16E12FC1442F}" destId="{854B8987-203D-4550-BA92-1D0B2CCE0D30}" srcOrd="1" destOrd="0" presId="urn:microsoft.com/office/officeart/2011/layout/CircleProcess"/>
    <dgm:cxn modelId="{BD420B10-C92B-4877-8225-2B84C995728C}" srcId="{0176FF18-4317-4A6A-9134-FE1D7812E27E}" destId="{368381F7-C348-485B-9B44-FC41AAF28DC3}" srcOrd="0" destOrd="0" parTransId="{39EA2B3F-384C-49F8-8E7E-4BEC250EBED7}" sibTransId="{D458608F-F6A0-4B35-A927-D7AFBDE07E51}"/>
    <dgm:cxn modelId="{42D0F123-1F4A-49C3-AC92-FEF43FD210C0}" type="presOf" srcId="{0C8C8FB1-F161-4B8D-A65E-ED0CF6B979C7}" destId="{12D9486F-D4DE-4373-AE40-E87E61FAE69B}" srcOrd="1" destOrd="0" presId="urn:microsoft.com/office/officeart/2011/layout/CircleProcess"/>
    <dgm:cxn modelId="{AF1A1B2A-C19D-44BF-9EB1-740CBB2DF33A}" type="presOf" srcId="{0C8C8FB1-F161-4B8D-A65E-ED0CF6B979C7}" destId="{6426C677-5175-43CA-B150-7BCD1045D052}" srcOrd="0" destOrd="0" presId="urn:microsoft.com/office/officeart/2011/layout/CircleProcess"/>
    <dgm:cxn modelId="{2A143C59-4F9A-48A5-889B-6378537510B1}" type="presOf" srcId="{368381F7-C348-485B-9B44-FC41AAF28DC3}" destId="{3623C94D-7EB1-498C-9392-DC9CF5A6FE43}" srcOrd="1" destOrd="0" presId="urn:microsoft.com/office/officeart/2011/layout/CircleProcess"/>
    <dgm:cxn modelId="{206EFC87-C104-44FF-B07C-919A6596C199}" type="presOf" srcId="{16569557-C3BF-4CBE-8A3C-7791BF611A73}" destId="{773A30C2-8CAC-4453-9202-3B44F2823DA3}" srcOrd="0" destOrd="0" presId="urn:microsoft.com/office/officeart/2011/layout/CircleProcess"/>
    <dgm:cxn modelId="{C439C7A4-0FA3-4DE5-8393-560A0D21FE40}" type="presOf" srcId="{16569557-C3BF-4CBE-8A3C-7791BF611A73}" destId="{59884D49-A278-4ABA-8C13-DA3496FD7774}" srcOrd="1" destOrd="0" presId="urn:microsoft.com/office/officeart/2011/layout/CircleProcess"/>
    <dgm:cxn modelId="{9CD156C3-F919-451F-871A-C3D5B0C47F80}" type="presOf" srcId="{368381F7-C348-485B-9B44-FC41AAF28DC3}" destId="{5578DEE5-4E8E-4DEE-9280-40E664C1B4FA}" srcOrd="0" destOrd="0" presId="urn:microsoft.com/office/officeart/2011/layout/CircleProcess"/>
    <dgm:cxn modelId="{CBB418CC-D4F8-48E8-9A38-42CE1C0E99BF}" type="presOf" srcId="{0176FF18-4317-4A6A-9134-FE1D7812E27E}" destId="{4151CCD5-5EA9-4663-83BA-C84AABFBD5D2}" srcOrd="0" destOrd="0" presId="urn:microsoft.com/office/officeart/2011/layout/CircleProcess"/>
    <dgm:cxn modelId="{F627CBD7-86D1-464D-B718-C2933CDE4950}" srcId="{0176FF18-4317-4A6A-9134-FE1D7812E27E}" destId="{16569557-C3BF-4CBE-8A3C-7791BF611A73}" srcOrd="1" destOrd="0" parTransId="{1B435A41-A7F3-41AE-87DC-795C92957E4C}" sibTransId="{EE545364-212A-4364-9637-7A313DE5B914}"/>
    <dgm:cxn modelId="{E23427E2-78E8-4DEB-9562-8C56E6279754}" srcId="{0176FF18-4317-4A6A-9134-FE1D7812E27E}" destId="{0C8C8FB1-F161-4B8D-A65E-ED0CF6B979C7}" srcOrd="3" destOrd="0" parTransId="{A2192B6B-8089-40DC-B4C8-402EDE72DA9A}" sibTransId="{15A2AA5C-DE6C-4982-8DB6-9DE9982D9AE7}"/>
    <dgm:cxn modelId="{B4B819E8-EEB9-456D-873C-F031660047F0}" type="presOf" srcId="{974C63A4-E98D-4FF3-8A15-16E12FC1442F}" destId="{84DC64DE-EF40-4F2A-9269-BEF6EA970240}" srcOrd="0" destOrd="0" presId="urn:microsoft.com/office/officeart/2011/layout/CircleProcess"/>
    <dgm:cxn modelId="{AB2ED6F7-CC22-408C-BF75-5648557529E9}" srcId="{0176FF18-4317-4A6A-9134-FE1D7812E27E}" destId="{974C63A4-E98D-4FF3-8A15-16E12FC1442F}" srcOrd="2" destOrd="0" parTransId="{16D9518B-7DE0-40C8-9319-3DA652646B40}" sibTransId="{9DDBDDB9-ACF1-4E54-A12F-578CD2ABB954}"/>
    <dgm:cxn modelId="{1DE93DA5-032A-45C6-84DA-A4FF11C1EA87}" type="presParOf" srcId="{4151CCD5-5EA9-4663-83BA-C84AABFBD5D2}" destId="{09A632A4-40A8-4320-95EC-15412C8F9788}" srcOrd="0" destOrd="0" presId="urn:microsoft.com/office/officeart/2011/layout/CircleProcess"/>
    <dgm:cxn modelId="{976899AB-D7C0-4776-BD81-2AB24D2CE879}" type="presParOf" srcId="{09A632A4-40A8-4320-95EC-15412C8F9788}" destId="{719377B3-89AE-4968-BF01-80BD70E42D06}" srcOrd="0" destOrd="0" presId="urn:microsoft.com/office/officeart/2011/layout/CircleProcess"/>
    <dgm:cxn modelId="{A4476C3B-B5CE-4E80-ABC5-62A562FB96E6}" type="presParOf" srcId="{4151CCD5-5EA9-4663-83BA-C84AABFBD5D2}" destId="{6B9375C9-8E22-4040-B1F1-8FD10399F319}" srcOrd="1" destOrd="0" presId="urn:microsoft.com/office/officeart/2011/layout/CircleProcess"/>
    <dgm:cxn modelId="{DE652043-5871-40EF-9AA0-ADE6196D2642}" type="presParOf" srcId="{6B9375C9-8E22-4040-B1F1-8FD10399F319}" destId="{6426C677-5175-43CA-B150-7BCD1045D052}" srcOrd="0" destOrd="0" presId="urn:microsoft.com/office/officeart/2011/layout/CircleProcess"/>
    <dgm:cxn modelId="{9D490C5E-9A4C-4C72-9524-2C3645AEB7D1}" type="presParOf" srcId="{4151CCD5-5EA9-4663-83BA-C84AABFBD5D2}" destId="{12D9486F-D4DE-4373-AE40-E87E61FAE69B}" srcOrd="2" destOrd="0" presId="urn:microsoft.com/office/officeart/2011/layout/CircleProcess"/>
    <dgm:cxn modelId="{3A0ED092-4257-47F5-B91E-FD1F2D119BB8}" type="presParOf" srcId="{4151CCD5-5EA9-4663-83BA-C84AABFBD5D2}" destId="{35946994-090F-452E-9B5D-9199D6E57CC1}" srcOrd="3" destOrd="0" presId="urn:microsoft.com/office/officeart/2011/layout/CircleProcess"/>
    <dgm:cxn modelId="{3BAF9A84-B5AE-448F-8B8C-23E759D1FE44}" type="presParOf" srcId="{35946994-090F-452E-9B5D-9199D6E57CC1}" destId="{D98B3297-20AF-4C58-8790-DA4A87C7E9F6}" srcOrd="0" destOrd="0" presId="urn:microsoft.com/office/officeart/2011/layout/CircleProcess"/>
    <dgm:cxn modelId="{3669CA4B-AADF-4A6D-84EB-0478CAFBF0FA}" type="presParOf" srcId="{4151CCD5-5EA9-4663-83BA-C84AABFBD5D2}" destId="{C8935B18-9F2D-4E29-A33D-C289E2147A4D}" srcOrd="4" destOrd="0" presId="urn:microsoft.com/office/officeart/2011/layout/CircleProcess"/>
    <dgm:cxn modelId="{63C798D4-3910-4342-BB16-AE47581DCAD4}" type="presParOf" srcId="{C8935B18-9F2D-4E29-A33D-C289E2147A4D}" destId="{84DC64DE-EF40-4F2A-9269-BEF6EA970240}" srcOrd="0" destOrd="0" presId="urn:microsoft.com/office/officeart/2011/layout/CircleProcess"/>
    <dgm:cxn modelId="{FEB82EB4-F989-423F-921E-0539CE177149}" type="presParOf" srcId="{4151CCD5-5EA9-4663-83BA-C84AABFBD5D2}" destId="{854B8987-203D-4550-BA92-1D0B2CCE0D30}" srcOrd="5" destOrd="0" presId="urn:microsoft.com/office/officeart/2011/layout/CircleProcess"/>
    <dgm:cxn modelId="{49427F96-8E49-4846-AFE6-8235ABE5BC06}" type="presParOf" srcId="{4151CCD5-5EA9-4663-83BA-C84AABFBD5D2}" destId="{23B76472-A21B-4593-93EA-79ADAF242F69}" srcOrd="6" destOrd="0" presId="urn:microsoft.com/office/officeart/2011/layout/CircleProcess"/>
    <dgm:cxn modelId="{D97DB46C-3180-4562-A16A-C794FA4B4434}" type="presParOf" srcId="{23B76472-A21B-4593-93EA-79ADAF242F69}" destId="{69098D80-8C9F-42A2-A904-2272AAC81431}" srcOrd="0" destOrd="0" presId="urn:microsoft.com/office/officeart/2011/layout/CircleProcess"/>
    <dgm:cxn modelId="{2DDEB7A5-3BC6-4399-BD52-05CA47D94C43}" type="presParOf" srcId="{4151CCD5-5EA9-4663-83BA-C84AABFBD5D2}" destId="{AB1304DC-FE37-4BFF-85ED-6210B6FFB916}" srcOrd="7" destOrd="0" presId="urn:microsoft.com/office/officeart/2011/layout/CircleProcess"/>
    <dgm:cxn modelId="{2B591F94-5556-43F2-8E8B-2FF5E9B0441E}" type="presParOf" srcId="{AB1304DC-FE37-4BFF-85ED-6210B6FFB916}" destId="{773A30C2-8CAC-4453-9202-3B44F2823DA3}" srcOrd="0" destOrd="0" presId="urn:microsoft.com/office/officeart/2011/layout/CircleProcess"/>
    <dgm:cxn modelId="{CC7C5280-4195-4742-AA97-44E9E11C9ACD}" type="presParOf" srcId="{4151CCD5-5EA9-4663-83BA-C84AABFBD5D2}" destId="{59884D49-A278-4ABA-8C13-DA3496FD7774}" srcOrd="8" destOrd="0" presId="urn:microsoft.com/office/officeart/2011/layout/CircleProcess"/>
    <dgm:cxn modelId="{11A4858F-4503-4C06-B516-731224A97DB8}" type="presParOf" srcId="{4151CCD5-5EA9-4663-83BA-C84AABFBD5D2}" destId="{32347A91-460F-47A8-8CEA-03C5770248BF}" srcOrd="9" destOrd="0" presId="urn:microsoft.com/office/officeart/2011/layout/CircleProcess"/>
    <dgm:cxn modelId="{C8D57A17-CDCD-40DA-AA23-63B5916B913A}" type="presParOf" srcId="{32347A91-460F-47A8-8CEA-03C5770248BF}" destId="{D61E8E44-B3C5-4DBC-9321-6B9CCFB0952E}" srcOrd="0" destOrd="0" presId="urn:microsoft.com/office/officeart/2011/layout/CircleProcess"/>
    <dgm:cxn modelId="{1678356B-C26F-426E-B824-14484076D6AD}" type="presParOf" srcId="{4151CCD5-5EA9-4663-83BA-C84AABFBD5D2}" destId="{9B30F765-8B89-434D-B7A0-64B499628046}" srcOrd="10" destOrd="0" presId="urn:microsoft.com/office/officeart/2011/layout/CircleProcess"/>
    <dgm:cxn modelId="{EFD10205-186E-4D5E-A901-B38E7F114B00}" type="presParOf" srcId="{9B30F765-8B89-434D-B7A0-64B499628046}" destId="{5578DEE5-4E8E-4DEE-9280-40E664C1B4FA}" srcOrd="0" destOrd="0" presId="urn:microsoft.com/office/officeart/2011/layout/CircleProcess"/>
    <dgm:cxn modelId="{DF1C0EAA-4729-4382-9B11-DC4D6A6F6F75}" type="presParOf" srcId="{4151CCD5-5EA9-4663-83BA-C84AABFBD5D2}" destId="{3623C94D-7EB1-498C-9392-DC9CF5A6FE43}" srcOrd="11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9377B3-89AE-4968-BF01-80BD70E42D06}">
      <dsp:nvSpPr>
        <dsp:cNvPr id="0" name=""/>
        <dsp:cNvSpPr/>
      </dsp:nvSpPr>
      <dsp:spPr>
        <a:xfrm>
          <a:off x="6710460" y="443169"/>
          <a:ext cx="1174100" cy="11741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26C677-5175-43CA-B150-7BCD1045D052}">
      <dsp:nvSpPr>
        <dsp:cNvPr id="0" name=""/>
        <dsp:cNvSpPr/>
      </dsp:nvSpPr>
      <dsp:spPr>
        <a:xfrm>
          <a:off x="6749731" y="482314"/>
          <a:ext cx="1096062" cy="1095869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230" tIns="62230" rIns="62230" bIns="6223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900" kern="1200"/>
        </a:p>
      </dsp:txBody>
      <dsp:txXfrm>
        <a:off x="6906312" y="638896"/>
        <a:ext cx="782901" cy="782705"/>
      </dsp:txXfrm>
    </dsp:sp>
    <dsp:sp modelId="{D98B3297-20AF-4C58-8790-DA4A87C7E9F6}">
      <dsp:nvSpPr>
        <dsp:cNvPr id="0" name=""/>
        <dsp:cNvSpPr/>
      </dsp:nvSpPr>
      <dsp:spPr>
        <a:xfrm rot="2700000">
          <a:off x="5492044" y="443086"/>
          <a:ext cx="1174120" cy="1174120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DC64DE-EF40-4F2A-9269-BEF6EA970240}">
      <dsp:nvSpPr>
        <dsp:cNvPr id="0" name=""/>
        <dsp:cNvSpPr/>
      </dsp:nvSpPr>
      <dsp:spPr>
        <a:xfrm>
          <a:off x="5536359" y="482314"/>
          <a:ext cx="1096062" cy="1095869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 dirty="0"/>
        </a:p>
      </dsp:txBody>
      <dsp:txXfrm>
        <a:off x="5692940" y="638896"/>
        <a:ext cx="782901" cy="782705"/>
      </dsp:txXfrm>
    </dsp:sp>
    <dsp:sp modelId="{69098D80-8C9F-42A2-A904-2272AAC81431}">
      <dsp:nvSpPr>
        <dsp:cNvPr id="0" name=""/>
        <dsp:cNvSpPr/>
      </dsp:nvSpPr>
      <dsp:spPr>
        <a:xfrm rot="2700000">
          <a:off x="4283707" y="443086"/>
          <a:ext cx="1174120" cy="1174120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3A30C2-8CAC-4453-9202-3B44F2823DA3}">
      <dsp:nvSpPr>
        <dsp:cNvPr id="0" name=""/>
        <dsp:cNvSpPr/>
      </dsp:nvSpPr>
      <dsp:spPr>
        <a:xfrm>
          <a:off x="4322987" y="482314"/>
          <a:ext cx="1096062" cy="1095869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 dirty="0"/>
        </a:p>
      </dsp:txBody>
      <dsp:txXfrm>
        <a:off x="4479568" y="638896"/>
        <a:ext cx="782901" cy="782705"/>
      </dsp:txXfrm>
    </dsp:sp>
    <dsp:sp modelId="{D61E8E44-B3C5-4DBC-9321-6B9CCFB0952E}">
      <dsp:nvSpPr>
        <dsp:cNvPr id="0" name=""/>
        <dsp:cNvSpPr/>
      </dsp:nvSpPr>
      <dsp:spPr>
        <a:xfrm rot="2700000">
          <a:off x="3070335" y="443086"/>
          <a:ext cx="1174120" cy="1174120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78DEE5-4E8E-4DEE-9280-40E664C1B4FA}">
      <dsp:nvSpPr>
        <dsp:cNvPr id="0" name=""/>
        <dsp:cNvSpPr/>
      </dsp:nvSpPr>
      <dsp:spPr>
        <a:xfrm>
          <a:off x="3109616" y="482314"/>
          <a:ext cx="1096062" cy="1095869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 dirty="0"/>
        </a:p>
      </dsp:txBody>
      <dsp:txXfrm>
        <a:off x="3266196" y="638896"/>
        <a:ext cx="782901" cy="7827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16EBB-8542-4AF9-AB74-957567F7BE4F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24F39-BB84-4634-BE35-2818324A7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251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16EBB-8542-4AF9-AB74-957567F7BE4F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24F39-BB84-4634-BE35-2818324A7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762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16EBB-8542-4AF9-AB74-957567F7BE4F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24F39-BB84-4634-BE35-2818324A7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777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16EBB-8542-4AF9-AB74-957567F7BE4F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24F39-BB84-4634-BE35-2818324A7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126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16EBB-8542-4AF9-AB74-957567F7BE4F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24F39-BB84-4634-BE35-2818324A7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681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16EBB-8542-4AF9-AB74-957567F7BE4F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24F39-BB84-4634-BE35-2818324A7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243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16EBB-8542-4AF9-AB74-957567F7BE4F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24F39-BB84-4634-BE35-2818324A7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283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16EBB-8542-4AF9-AB74-957567F7BE4F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24F39-BB84-4634-BE35-2818324A7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718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16EBB-8542-4AF9-AB74-957567F7BE4F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24F39-BB84-4634-BE35-2818324A7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955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16EBB-8542-4AF9-AB74-957567F7BE4F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24F39-BB84-4634-BE35-2818324A7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94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16EBB-8542-4AF9-AB74-957567F7BE4F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24F39-BB84-4634-BE35-2818324A7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46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16EBB-8542-4AF9-AB74-957567F7BE4F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24F39-BB84-4634-BE35-2818324A71F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408485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16EBB-8542-4AF9-AB74-957567F7BE4F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24F39-BB84-4634-BE35-2818324A7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2382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16EBB-8542-4AF9-AB74-957567F7BE4F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24F39-BB84-4634-BE35-2818324A7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8533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16EBB-8542-4AF9-AB74-957567F7BE4F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24F39-BB84-4634-BE35-2818324A7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324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16EBB-8542-4AF9-AB74-957567F7BE4F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24F39-BB84-4634-BE35-2818324A7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1484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16EBB-8542-4AF9-AB74-957567F7BE4F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24F39-BB84-4634-BE35-2818324A7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32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16EBB-8542-4AF9-AB74-957567F7BE4F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224F39-BB84-4634-BE35-2818324A7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6112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1L55G3GqFhM" TargetMode="External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1L55G3GqFhM?feature=oembed" TargetMode="Externa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13" Type="http://schemas.openxmlformats.org/officeDocument/2006/relationships/image" Target="../media/image9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12" Type="http://schemas.openxmlformats.org/officeDocument/2006/relationships/image" Target="../media/image8.sv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image" Target="../media/image7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6.sv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5.png"/><Relationship Id="rId1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0A79A-7058-6BE7-ABA2-EC69BF76A4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1655762"/>
          </a:xfrm>
        </p:spPr>
        <p:txBody>
          <a:bodyPr/>
          <a:lstStyle/>
          <a:p>
            <a:r>
              <a:rPr lang="en-US" dirty="0"/>
              <a:t>Cloud Computing in Everyday Life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184941-F887-1763-19A7-B06A40888D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5269" y="2951162"/>
            <a:ext cx="9001462" cy="4778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Transforming How We Work, Learn, and Connect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6115D8-C8DE-D238-CBC5-AE726503FEFD}"/>
              </a:ext>
            </a:extLst>
          </p:cNvPr>
          <p:cNvSpPr txBox="1"/>
          <p:nvPr/>
        </p:nvSpPr>
        <p:spPr>
          <a:xfrm>
            <a:off x="1863524" y="3889094"/>
            <a:ext cx="854211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Name: Muhammad Farhan</a:t>
            </a:r>
          </a:p>
          <a:p>
            <a:r>
              <a:rPr lang="en-US" dirty="0"/>
              <a:t>Roll no: 25K-0538</a:t>
            </a:r>
          </a:p>
          <a:p>
            <a:r>
              <a:rPr lang="en-US" dirty="0"/>
              <a:t>Section: K</a:t>
            </a:r>
          </a:p>
          <a:p>
            <a:r>
              <a:rPr lang="en-US" dirty="0"/>
              <a:t>Program: BCS-1K</a:t>
            </a:r>
          </a:p>
          <a:p>
            <a:r>
              <a:rPr lang="en-US" dirty="0"/>
              <a:t>Course: ICT Lab</a:t>
            </a:r>
          </a:p>
          <a:p>
            <a:r>
              <a:rPr lang="en-US" dirty="0"/>
              <a:t>Course Instructor: Miss Syeda Tehreem Gilani</a:t>
            </a:r>
          </a:p>
        </p:txBody>
      </p:sp>
    </p:spTree>
    <p:extLst>
      <p:ext uri="{BB962C8B-B14F-4D97-AF65-F5344CB8AC3E}">
        <p14:creationId xmlns:p14="http://schemas.microsoft.com/office/powerpoint/2010/main" val="4397329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B1624-3E29-F898-CD0F-0615D0155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6AF80-CC59-0FE0-C5F4-47FDBB092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4"/>
            <a:ext cx="10353762" cy="3992220"/>
          </a:xfrm>
        </p:spPr>
        <p:txBody>
          <a:bodyPr/>
          <a:lstStyle/>
          <a:p>
            <a:r>
              <a:rPr lang="en-US" dirty="0"/>
              <a:t>Introduction to Cloud Computing</a:t>
            </a:r>
          </a:p>
          <a:p>
            <a:r>
              <a:rPr lang="en-US" dirty="0"/>
              <a:t>How Cloud Computing Works</a:t>
            </a:r>
          </a:p>
          <a:p>
            <a:r>
              <a:rPr lang="en-US" dirty="0"/>
              <a:t>Everyday Applications</a:t>
            </a:r>
          </a:p>
          <a:p>
            <a:r>
              <a:rPr lang="en-US" dirty="0"/>
              <a:t>Benefits of Cloud Computing</a:t>
            </a:r>
          </a:p>
          <a:p>
            <a:r>
              <a:rPr lang="en-US" dirty="0"/>
              <a:t>Challenges &amp; Concerns</a:t>
            </a:r>
          </a:p>
          <a:p>
            <a:r>
              <a:rPr lang="en-US" dirty="0"/>
              <a:t>Future of Cloud Computing</a:t>
            </a:r>
          </a:p>
          <a:p>
            <a:r>
              <a:rPr lang="en-US" dirty="0"/>
              <a:t>Case Study: Netflix</a:t>
            </a:r>
          </a:p>
          <a:p>
            <a:r>
              <a:rPr lang="en-US" dirty="0"/>
              <a:t>Conclusion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05618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5453B-14F5-9A17-2FD9-0669C9BB7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93DCE-D543-5800-C3D6-03536DC2C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Cloud computing delivers computing services (storage, software, processing power) over the internet.</a:t>
            </a:r>
          </a:p>
          <a:p>
            <a:r>
              <a:rPr lang="en-US" dirty="0"/>
              <a:t>Instead of relying only on local devices, people access resources “in the cloud.”</a:t>
            </a:r>
          </a:p>
          <a:p>
            <a:r>
              <a:rPr lang="en-US" dirty="0"/>
              <a:t>It has become an essential part of daily life:</a:t>
            </a:r>
          </a:p>
          <a:p>
            <a:pPr lvl="1"/>
            <a:r>
              <a:rPr lang="en-US" b="1" dirty="0"/>
              <a:t>Work &amp; Education:</a:t>
            </a:r>
            <a:r>
              <a:rPr lang="en-US" dirty="0"/>
              <a:t> Google Drive, Microsoft Teams, Zoom.</a:t>
            </a:r>
          </a:p>
          <a:p>
            <a:pPr lvl="1"/>
            <a:r>
              <a:rPr lang="en-US" b="1" dirty="0"/>
              <a:t>Entertainment:</a:t>
            </a:r>
            <a:r>
              <a:rPr lang="en-US" dirty="0"/>
              <a:t> Netflix, YouTube, Spotify.</a:t>
            </a:r>
          </a:p>
          <a:p>
            <a:pPr lvl="1"/>
            <a:r>
              <a:rPr lang="en-US" b="1" dirty="0"/>
              <a:t>Personal Use:</a:t>
            </a:r>
            <a:r>
              <a:rPr lang="en-US" dirty="0"/>
              <a:t> Online backups, file sharing, photo storage.</a:t>
            </a:r>
          </a:p>
        </p:txBody>
      </p:sp>
    </p:spTree>
    <p:extLst>
      <p:ext uri="{BB962C8B-B14F-4D97-AF65-F5344CB8AC3E}">
        <p14:creationId xmlns:p14="http://schemas.microsoft.com/office/powerpoint/2010/main" val="49513146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473EFC-7E29-3C06-A840-B6E1FF55BE47}"/>
              </a:ext>
            </a:extLst>
          </p:cNvPr>
          <p:cNvSpPr txBox="1"/>
          <p:nvPr/>
        </p:nvSpPr>
        <p:spPr>
          <a:xfrm>
            <a:off x="3047082" y="6309777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http://www.youtube.com/watch?v=1L55G3GqFhM</a:t>
            </a:r>
            <a:endParaRPr lang="en-US" dirty="0"/>
          </a:p>
        </p:txBody>
      </p:sp>
      <p:pic>
        <p:nvPicPr>
          <p:cNvPr id="5" name="Online Media 4" title="What is Cloud Computing? A Simple Explanation in 1 Minute">
            <a:hlinkClick r:id="" action="ppaction://media"/>
            <a:extLst>
              <a:ext uri="{FF2B5EF4-FFF2-40B4-BE49-F238E27FC236}">
                <a16:creationId xmlns:a16="http://schemas.microsoft.com/office/drawing/2014/main" id="{5CA149D5-517C-095C-87B4-474DC275E427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151903" y="635579"/>
            <a:ext cx="9888193" cy="5586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883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6A5ED-E739-838F-50EA-123764589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could computing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05F10-BC1F-4148-2080-3AD890CC1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4"/>
            <a:ext cx="10353762" cy="2418063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User Request</a:t>
            </a:r>
            <a:r>
              <a:rPr lang="en-US" dirty="0"/>
              <a:t> → A person connects to the internet.</a:t>
            </a:r>
          </a:p>
          <a:p>
            <a:r>
              <a:rPr lang="en-US" b="1" dirty="0"/>
              <a:t>Cloud Provider Servers</a:t>
            </a:r>
            <a:r>
              <a:rPr lang="en-US" dirty="0"/>
              <a:t> → The request is sent to data centers.</a:t>
            </a:r>
          </a:p>
          <a:p>
            <a:r>
              <a:rPr lang="en-US" b="1" dirty="0"/>
              <a:t>Processing</a:t>
            </a:r>
            <a:r>
              <a:rPr lang="en-US" dirty="0"/>
              <a:t> → Applications, storage, or services are prepared.</a:t>
            </a:r>
          </a:p>
          <a:p>
            <a:r>
              <a:rPr lang="en-US" b="1" dirty="0"/>
              <a:t>Delivery</a:t>
            </a:r>
            <a:r>
              <a:rPr lang="en-US" dirty="0"/>
              <a:t> → Data is sent back to the user’s device.</a:t>
            </a:r>
          </a:p>
          <a:p>
            <a:r>
              <a:rPr lang="en-US" b="1" dirty="0"/>
              <a:t>Access Anytime, Anywhere</a:t>
            </a:r>
            <a:r>
              <a:rPr lang="en-US" dirty="0"/>
              <a:t> → Services run smoothly without local storage limits.</a:t>
            </a:r>
          </a:p>
          <a:p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DFFB1AC5-7AC6-FFC1-0829-D54B3E2EF4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107389"/>
              </p:ext>
            </p:extLst>
          </p:nvPr>
        </p:nvGraphicFramePr>
        <p:xfrm>
          <a:off x="457841" y="4514126"/>
          <a:ext cx="10711729" cy="20602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Graphic 5" descr="Internet">
            <a:extLst>
              <a:ext uri="{FF2B5EF4-FFF2-40B4-BE49-F238E27FC236}">
                <a16:creationId xmlns:a16="http://schemas.microsoft.com/office/drawing/2014/main" id="{4A7A4EE3-583A-9362-9EDC-37C5D6303FD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43644" y="5160350"/>
            <a:ext cx="767841" cy="767841"/>
          </a:xfrm>
          <a:prstGeom prst="rect">
            <a:avLst/>
          </a:prstGeom>
        </p:spPr>
      </p:pic>
      <p:pic>
        <p:nvPicPr>
          <p:cNvPr id="8" name="Graphic 7" descr="Cloud Computing">
            <a:extLst>
              <a:ext uri="{FF2B5EF4-FFF2-40B4-BE49-F238E27FC236}">
                <a16:creationId xmlns:a16="http://schemas.microsoft.com/office/drawing/2014/main" id="{83C72972-F300-15ED-A444-A3F40E38A20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94737" y="5160347"/>
            <a:ext cx="767841" cy="767841"/>
          </a:xfrm>
          <a:prstGeom prst="rect">
            <a:avLst/>
          </a:prstGeom>
        </p:spPr>
      </p:pic>
      <p:pic>
        <p:nvPicPr>
          <p:cNvPr id="12" name="Graphic 11" descr="Syncing cloud">
            <a:extLst>
              <a:ext uri="{FF2B5EF4-FFF2-40B4-BE49-F238E27FC236}">
                <a16:creationId xmlns:a16="http://schemas.microsoft.com/office/drawing/2014/main" id="{14DD3FDD-FBBF-9115-1529-2F211B48830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69190" y="5160346"/>
            <a:ext cx="767841" cy="767841"/>
          </a:xfrm>
          <a:prstGeom prst="rect">
            <a:avLst/>
          </a:prstGeom>
        </p:spPr>
      </p:pic>
      <p:pic>
        <p:nvPicPr>
          <p:cNvPr id="14" name="Graphic 13" descr="Wireless">
            <a:extLst>
              <a:ext uri="{FF2B5EF4-FFF2-40B4-BE49-F238E27FC236}">
                <a16:creationId xmlns:a16="http://schemas.microsoft.com/office/drawing/2014/main" id="{9300F73E-D436-5A53-CC9E-A763B86DBD1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718098" y="5160346"/>
            <a:ext cx="767841" cy="767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82377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Graphic spid="4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DD6DF-DD5B-A143-E24C-219DDC8F6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360" y="354958"/>
            <a:ext cx="11667280" cy="987706"/>
          </a:xfrm>
        </p:spPr>
        <p:txBody>
          <a:bodyPr>
            <a:normAutofit fontScale="90000"/>
          </a:bodyPr>
          <a:lstStyle/>
          <a:p>
            <a:r>
              <a:rPr lang="en-US" dirty="0"/>
              <a:t>Everyday applications of 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2C430-FFB4-39A7-897B-7802C22B3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Education:</a:t>
            </a:r>
          </a:p>
          <a:p>
            <a:pPr lvl="1"/>
            <a:r>
              <a:rPr lang="en-US" dirty="0"/>
              <a:t>Online classes, e-learning platforms, collaboration (Google Classroom, Microsoft Teams).</a:t>
            </a:r>
          </a:p>
          <a:p>
            <a:r>
              <a:rPr lang="en-US" b="1" dirty="0"/>
              <a:t>Entertainment:</a:t>
            </a:r>
          </a:p>
          <a:p>
            <a:pPr lvl="1"/>
            <a:r>
              <a:rPr lang="en-US" dirty="0"/>
              <a:t>Streaming services like Netflix, YouTube, Spotify use cloud to deliver content.</a:t>
            </a:r>
          </a:p>
          <a:p>
            <a:r>
              <a:rPr lang="en-US" b="1" dirty="0"/>
              <a:t>Business and Work:</a:t>
            </a:r>
          </a:p>
          <a:p>
            <a:pPr lvl="1"/>
            <a:r>
              <a:rPr lang="en-US" dirty="0"/>
              <a:t>Remote work tools (Zoom, Slack), cloud storage (Dropbox, Google Drive).</a:t>
            </a:r>
          </a:p>
          <a:p>
            <a:r>
              <a:rPr lang="en-US" b="1" dirty="0"/>
              <a:t>Personal Use:</a:t>
            </a:r>
          </a:p>
          <a:p>
            <a:pPr lvl="1"/>
            <a:r>
              <a:rPr lang="en-US" dirty="0"/>
              <a:t>File sharing, photo backups, email services (Gmail, iCloud).</a:t>
            </a:r>
          </a:p>
        </p:txBody>
      </p:sp>
    </p:spTree>
    <p:extLst>
      <p:ext uri="{BB962C8B-B14F-4D97-AF65-F5344CB8AC3E}">
        <p14:creationId xmlns:p14="http://schemas.microsoft.com/office/powerpoint/2010/main" val="322122578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338C8-ACD2-1826-E507-588A8D924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451031"/>
            <a:ext cx="9001462" cy="1435642"/>
          </a:xfrm>
        </p:spPr>
        <p:txBody>
          <a:bodyPr/>
          <a:lstStyle/>
          <a:p>
            <a:r>
              <a:rPr lang="en-US" dirty="0"/>
              <a:t>Benefits of Cloud Computing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A9D2BA-8582-4568-9765-A5917E54B7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2273" y="1886675"/>
            <a:ext cx="9942654" cy="3634450"/>
          </a:xfrm>
        </p:spPr>
        <p:txBody>
          <a:bodyPr>
            <a:normAutofit fontScale="92500"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Accessibility: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Access data and apps anytime, anywhere.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Scalability: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Increase or decrease resources as needed.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Cost Efficiency: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Pay only for what you use, no heavy hardware investment.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Collaboration: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Multiple users can work together in real-time.</a:t>
            </a:r>
          </a:p>
          <a:p>
            <a:pPr algn="l"/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6C87460-F25E-A651-1327-AC30B7F7CD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9354397"/>
              </p:ext>
            </p:extLst>
          </p:nvPr>
        </p:nvGraphicFramePr>
        <p:xfrm>
          <a:off x="812158" y="5612495"/>
          <a:ext cx="10567684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1921">
                  <a:extLst>
                    <a:ext uri="{9D8B030D-6E8A-4147-A177-3AD203B41FA5}">
                      <a16:colId xmlns:a16="http://schemas.microsoft.com/office/drawing/2014/main" val="1033621752"/>
                    </a:ext>
                  </a:extLst>
                </a:gridCol>
                <a:gridCol w="2641921">
                  <a:extLst>
                    <a:ext uri="{9D8B030D-6E8A-4147-A177-3AD203B41FA5}">
                      <a16:colId xmlns:a16="http://schemas.microsoft.com/office/drawing/2014/main" val="1675889306"/>
                    </a:ext>
                  </a:extLst>
                </a:gridCol>
                <a:gridCol w="2641921">
                  <a:extLst>
                    <a:ext uri="{9D8B030D-6E8A-4147-A177-3AD203B41FA5}">
                      <a16:colId xmlns:a16="http://schemas.microsoft.com/office/drawing/2014/main" val="938400190"/>
                    </a:ext>
                  </a:extLst>
                </a:gridCol>
                <a:gridCol w="2641921">
                  <a:extLst>
                    <a:ext uri="{9D8B030D-6E8A-4147-A177-3AD203B41FA5}">
                      <a16:colId xmlns:a16="http://schemas.microsoft.com/office/drawing/2014/main" val="4215962085"/>
                    </a:ext>
                  </a:extLst>
                </a:gridCol>
              </a:tblGrid>
              <a:tr h="349726">
                <a:tc>
                  <a:txBody>
                    <a:bodyPr/>
                    <a:lstStyle/>
                    <a:p>
                      <a:r>
                        <a:rPr lang="en-US" dirty="0"/>
                        <a:t>Accessibility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Scalability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Cost 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Collaboration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436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Anytime Desired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Scale as needed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Hardware Investment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Multiple users at same time.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07392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050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A2554-695D-5347-90AF-1C276E508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&amp; concerns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69A95-52C1-D15F-C385-AE6AB75A1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Security Risks:</a:t>
            </a:r>
          </a:p>
          <a:p>
            <a:pPr lvl="1"/>
            <a:r>
              <a:rPr lang="en-US" dirty="0"/>
              <a:t>Threat of data breaches and hacking.</a:t>
            </a:r>
          </a:p>
          <a:p>
            <a:r>
              <a:rPr lang="en-US" b="1" dirty="0"/>
              <a:t>Internet Dependency:</a:t>
            </a:r>
          </a:p>
          <a:p>
            <a:pPr lvl="1"/>
            <a:r>
              <a:rPr lang="en-US" dirty="0"/>
              <a:t>Services unavailable without a stable connection.</a:t>
            </a:r>
          </a:p>
          <a:p>
            <a:r>
              <a:rPr lang="en-US" b="1" dirty="0"/>
              <a:t>Privacy Issues:</a:t>
            </a:r>
          </a:p>
          <a:p>
            <a:pPr lvl="1"/>
            <a:r>
              <a:rPr lang="en-US" dirty="0"/>
              <a:t>Concerns about who controls and accesses user data.</a:t>
            </a:r>
          </a:p>
          <a:p>
            <a:r>
              <a:rPr lang="en-US" b="1" dirty="0"/>
              <a:t>Downtime Risks:</a:t>
            </a:r>
          </a:p>
          <a:p>
            <a:pPr lvl="1"/>
            <a:r>
              <a:rPr lang="en-US" dirty="0"/>
              <a:t>Service outages can disrupt work and access.</a:t>
            </a:r>
          </a:p>
        </p:txBody>
      </p:sp>
    </p:spTree>
    <p:extLst>
      <p:ext uri="{BB962C8B-B14F-4D97-AF65-F5344CB8AC3E}">
        <p14:creationId xmlns:p14="http://schemas.microsoft.com/office/powerpoint/2010/main" val="428418083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9E66A-444C-5345-7090-BE5CD7EBA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277258"/>
            <a:ext cx="10353761" cy="789542"/>
          </a:xfrm>
        </p:spPr>
        <p:txBody>
          <a:bodyPr/>
          <a:lstStyle/>
          <a:p>
            <a:r>
              <a:rPr lang="en-US" dirty="0"/>
              <a:t>Future of 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229BD-4EC7-FF84-2579-153A27617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3" y="1066800"/>
            <a:ext cx="10353762" cy="3695136"/>
          </a:xfrm>
        </p:spPr>
        <p:txBody>
          <a:bodyPr/>
          <a:lstStyle/>
          <a:p>
            <a:r>
              <a:rPr lang="en-US" b="1" dirty="0"/>
              <a:t>AI Integration:</a:t>
            </a:r>
          </a:p>
          <a:p>
            <a:pPr lvl="1"/>
            <a:r>
              <a:rPr lang="en-US" dirty="0"/>
              <a:t>Smarter cloud services powered by Artificial Intelligence.</a:t>
            </a:r>
          </a:p>
          <a:p>
            <a:r>
              <a:rPr lang="en-US" b="1" dirty="0"/>
              <a:t>Edge Computing:</a:t>
            </a:r>
          </a:p>
          <a:p>
            <a:pPr lvl="1"/>
            <a:r>
              <a:rPr lang="en-US" dirty="0"/>
              <a:t>Processing closer to users for faster performance.</a:t>
            </a:r>
          </a:p>
          <a:p>
            <a:r>
              <a:rPr lang="en-US" b="1" dirty="0"/>
              <a:t>Hybrid &amp; Multi-Cloud Models:</a:t>
            </a:r>
          </a:p>
          <a:p>
            <a:pPr lvl="1"/>
            <a:r>
              <a:rPr lang="en-US" dirty="0"/>
              <a:t>Combining private and public clouds for flexibility.</a:t>
            </a:r>
          </a:p>
          <a:p>
            <a:r>
              <a:rPr lang="en-US" b="1" dirty="0"/>
              <a:t>Sustainability:</a:t>
            </a:r>
          </a:p>
          <a:p>
            <a:pPr lvl="1"/>
            <a:r>
              <a:rPr lang="en-US" dirty="0"/>
              <a:t>Energy-efficient data centers and green IT practices.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D882192-0630-4569-52A6-ED5728D73A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7862383"/>
              </p:ext>
            </p:extLst>
          </p:nvPr>
        </p:nvGraphicFramePr>
        <p:xfrm>
          <a:off x="874188" y="5180638"/>
          <a:ext cx="10432972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8243">
                  <a:extLst>
                    <a:ext uri="{9D8B030D-6E8A-4147-A177-3AD203B41FA5}">
                      <a16:colId xmlns:a16="http://schemas.microsoft.com/office/drawing/2014/main" val="19177873"/>
                    </a:ext>
                  </a:extLst>
                </a:gridCol>
                <a:gridCol w="2608243">
                  <a:extLst>
                    <a:ext uri="{9D8B030D-6E8A-4147-A177-3AD203B41FA5}">
                      <a16:colId xmlns:a16="http://schemas.microsoft.com/office/drawing/2014/main" val="3367124935"/>
                    </a:ext>
                  </a:extLst>
                </a:gridCol>
                <a:gridCol w="2608243">
                  <a:extLst>
                    <a:ext uri="{9D8B030D-6E8A-4147-A177-3AD203B41FA5}">
                      <a16:colId xmlns:a16="http://schemas.microsoft.com/office/drawing/2014/main" val="1657913033"/>
                    </a:ext>
                  </a:extLst>
                </a:gridCol>
                <a:gridCol w="2608243">
                  <a:extLst>
                    <a:ext uri="{9D8B030D-6E8A-4147-A177-3AD203B41FA5}">
                      <a16:colId xmlns:a16="http://schemas.microsoft.com/office/drawing/2014/main" val="22214594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AI-Integration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Edge Computing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Hybrid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Sustainability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6643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More effective algorithms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Faster and more efficient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Combining multiple models for flexibility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More energy efficient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0912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0180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F0DC0-6DEE-F8C4-70E1-776BFADAE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822593"/>
          </a:xfrm>
        </p:spPr>
        <p:txBody>
          <a:bodyPr/>
          <a:lstStyle/>
          <a:p>
            <a:r>
              <a:rPr lang="en-US" dirty="0"/>
              <a:t>Case study: </a:t>
            </a:r>
            <a:r>
              <a:rPr lang="en-US" dirty="0" err="1"/>
              <a:t>netflix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7E4CB-173F-EF89-9409-1AFF6A6AB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Global Streaming Leader:</a:t>
            </a:r>
          </a:p>
          <a:p>
            <a:pPr lvl="1"/>
            <a:r>
              <a:rPr lang="en-US" dirty="0"/>
              <a:t>Uses cloud servers to deliver movies and shows worldwide.</a:t>
            </a:r>
          </a:p>
          <a:p>
            <a:r>
              <a:rPr lang="en-US" b="1" dirty="0"/>
              <a:t>Scalability:</a:t>
            </a:r>
          </a:p>
          <a:p>
            <a:pPr lvl="1"/>
            <a:r>
              <a:rPr lang="en-US" dirty="0"/>
              <a:t>Handles millions of viewers at the same time.</a:t>
            </a:r>
          </a:p>
          <a:p>
            <a:r>
              <a:rPr lang="en-US" b="1" dirty="0"/>
              <a:t>Personalization:</a:t>
            </a:r>
          </a:p>
          <a:p>
            <a:pPr lvl="1"/>
            <a:r>
              <a:rPr lang="en-US" dirty="0"/>
              <a:t>Cloud-based AI recommends shows and movies for each user.</a:t>
            </a:r>
          </a:p>
          <a:p>
            <a:r>
              <a:rPr lang="en-US" b="1" dirty="0"/>
              <a:t>Cost Efficiency &amp; Reliability:</a:t>
            </a:r>
          </a:p>
          <a:p>
            <a:pPr lvl="1"/>
            <a:r>
              <a:rPr lang="en-US" dirty="0"/>
              <a:t>Avoids building massive data centers by relying on cloud providers.</a:t>
            </a:r>
          </a:p>
        </p:txBody>
      </p:sp>
    </p:spTree>
    <p:extLst>
      <p:ext uri="{BB962C8B-B14F-4D97-AF65-F5344CB8AC3E}">
        <p14:creationId xmlns:p14="http://schemas.microsoft.com/office/powerpoint/2010/main" val="4219321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3D7F2-9455-F11B-4022-89020F5A8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8C089-32E8-49F4-9FB2-21915F78F0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3"/>
            <a:ext cx="10353762" cy="4018297"/>
          </a:xfrm>
        </p:spPr>
        <p:txBody>
          <a:bodyPr/>
          <a:lstStyle/>
          <a:p>
            <a:r>
              <a:rPr lang="en-US" dirty="0"/>
              <a:t>Cloud computing is deeply integrated into </a:t>
            </a:r>
            <a:r>
              <a:rPr lang="en-US" b="1" dirty="0"/>
              <a:t>daily life</a:t>
            </a:r>
            <a:r>
              <a:rPr lang="en-US" dirty="0"/>
              <a:t> — from education to entertainment.</a:t>
            </a:r>
          </a:p>
          <a:p>
            <a:r>
              <a:rPr lang="en-US" dirty="0"/>
              <a:t>Offers </a:t>
            </a:r>
            <a:r>
              <a:rPr lang="en-US" b="1" dirty="0"/>
              <a:t>flexibility, scalability, and collaboration</a:t>
            </a:r>
            <a:r>
              <a:rPr lang="en-US" dirty="0"/>
              <a:t> benefits.</a:t>
            </a:r>
          </a:p>
          <a:p>
            <a:r>
              <a:rPr lang="en-US" dirty="0"/>
              <a:t>Challenges like </a:t>
            </a:r>
            <a:r>
              <a:rPr lang="en-US" b="1" dirty="0"/>
              <a:t>security, privacy, and downtime</a:t>
            </a:r>
            <a:r>
              <a:rPr lang="en-US" dirty="0"/>
              <a:t> still exist.</a:t>
            </a:r>
          </a:p>
          <a:p>
            <a:r>
              <a:rPr lang="en-US" dirty="0"/>
              <a:t>The future points toward </a:t>
            </a:r>
            <a:r>
              <a:rPr lang="en-US" b="1" dirty="0"/>
              <a:t>AI, edge computing, and sustainable solutions</a:t>
            </a:r>
            <a:r>
              <a:rPr lang="en-US" dirty="0"/>
              <a:t>.</a:t>
            </a:r>
          </a:p>
          <a:p>
            <a:r>
              <a:rPr lang="en-US" dirty="0"/>
              <a:t>Cloud is not just technology — it’s a </a:t>
            </a:r>
            <a:r>
              <a:rPr lang="en-US" b="1" dirty="0"/>
              <a:t>driver of innovation and connectivity</a:t>
            </a:r>
            <a:r>
              <a:rPr lang="en-US" dirty="0"/>
              <a:t>.</a:t>
            </a:r>
          </a:p>
          <a:p>
            <a:endParaRPr lang="en-US" dirty="0"/>
          </a:p>
          <a:p>
            <a:pPr marL="457200" lvl="1" indent="0" algn="ctr">
              <a:buNone/>
            </a:pPr>
            <a:r>
              <a:rPr lang="en-US" i="1" dirty="0"/>
              <a:t>Cloud Computing = Flexibility, Connectivity, Possibilities.</a:t>
            </a:r>
          </a:p>
        </p:txBody>
      </p:sp>
    </p:spTree>
    <p:extLst>
      <p:ext uri="{BB962C8B-B14F-4D97-AF65-F5344CB8AC3E}">
        <p14:creationId xmlns:p14="http://schemas.microsoft.com/office/powerpoint/2010/main" val="1129280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917FB-4212-BE1A-FED8-065AD4151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3D73E-14C7-22CA-7945-0476A7980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Amazon Web Services (AWS) – </a:t>
            </a:r>
            <a:r>
              <a:rPr lang="en-US" i="1" dirty="0"/>
              <a:t>What is Cloud Computing?</a:t>
            </a:r>
          </a:p>
          <a:p>
            <a:r>
              <a:rPr lang="en-US" dirty="0"/>
              <a:t>Microsoft Azure Documentation – </a:t>
            </a:r>
            <a:r>
              <a:rPr lang="en-US" i="1" dirty="0"/>
              <a:t>Cloud Services Overview</a:t>
            </a:r>
          </a:p>
          <a:p>
            <a:r>
              <a:rPr lang="en-US" dirty="0"/>
              <a:t>Google Cloud Blog – </a:t>
            </a:r>
            <a:r>
              <a:rPr lang="en-US" i="1" dirty="0"/>
              <a:t>Trends in Cloud Computing</a:t>
            </a:r>
          </a:p>
          <a:p>
            <a:r>
              <a:rPr lang="en-US" dirty="0"/>
              <a:t>IBM Articles – </a:t>
            </a:r>
            <a:r>
              <a:rPr lang="en-US" i="1" dirty="0"/>
              <a:t>The Future of Cloud Technology</a:t>
            </a:r>
          </a:p>
          <a:p>
            <a:r>
              <a:rPr lang="en-US" dirty="0"/>
              <a:t>Techopedia – </a:t>
            </a:r>
            <a:r>
              <a:rPr lang="en-US" i="1" dirty="0"/>
              <a:t>Cloud Computing Explained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42374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6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9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4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96</TotalTime>
  <Words>642</Words>
  <Application>Microsoft Office PowerPoint</Application>
  <PresentationFormat>Widescreen</PresentationFormat>
  <Paragraphs>106</Paragraphs>
  <Slides>12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Bookman Old Style</vt:lpstr>
      <vt:lpstr>Rockwell</vt:lpstr>
      <vt:lpstr>Damask</vt:lpstr>
      <vt:lpstr>Cloud Computing in Everyday Life</vt:lpstr>
      <vt:lpstr>Agenda</vt:lpstr>
      <vt:lpstr>Introduction</vt:lpstr>
      <vt:lpstr>PowerPoint Presentation</vt:lpstr>
      <vt:lpstr>How could computing works</vt:lpstr>
      <vt:lpstr>Everyday applications of cloud computing</vt:lpstr>
      <vt:lpstr>Benefits of Cloud Computing</vt:lpstr>
      <vt:lpstr>Challenges &amp; concerns</vt:lpstr>
      <vt:lpstr>Future of cloud computing</vt:lpstr>
      <vt:lpstr>Case study: netflix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Farhan</dc:creator>
  <cp:lastModifiedBy>Mohammad Farhan</cp:lastModifiedBy>
  <cp:revision>2</cp:revision>
  <dcterms:created xsi:type="dcterms:W3CDTF">2025-09-29T14:32:34Z</dcterms:created>
  <dcterms:modified xsi:type="dcterms:W3CDTF">2025-10-11T08:34:03Z</dcterms:modified>
</cp:coreProperties>
</file>