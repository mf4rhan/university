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/>
              <a:t>Increase in Computing Power In terms of FLOPS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>
                  <a:lumMod val="95000"/>
                </a:schemeClr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  <a:r>
                      <a:rPr lang="en-US" baseline="0"/>
                      <a:t> KFLOPS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9BB-40F1-BEBC-9A60598E7C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400 KFLOPS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9BB-40F1-BEBC-9A60598E7C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80 MFLOPS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9BB-40F1-BEBC-9A60598E7C1F}"/>
                </c:ext>
              </c:extLst>
            </c:dLbl>
            <c:dLbl>
              <c:idx val="3"/>
              <c:layout>
                <c:manualLayout>
                  <c:x val="-5.6194982429665238E-2"/>
                  <c:y val="2.664479136289148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prstClr val="white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>
                        <a:solidFill>
                          <a:prstClr val="white">
                            <a:lumMod val="75000"/>
                            <a:lumOff val="25000"/>
                          </a:prstClr>
                        </a:solidFill>
                      </a:rPr>
                      <a:t>0.5 MFLOPS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prstClr val="white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9BB-40F1-BEBC-9A60598E7C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0.5 MFLOPS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9BB-40F1-BEBC-9A60598E7C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2.0 GFLOPS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9BB-40F1-BEBC-9A60598E7C1F}"/>
                </c:ext>
              </c:extLst>
            </c:dLbl>
            <c:dLbl>
              <c:idx val="6"/>
              <c:layout>
                <c:manualLayout>
                  <c:x val="-1.4062500000000115E-2"/>
                  <c:y val="2.3437498558224745E-2"/>
                </c:manualLayout>
              </c:layout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8.9 TFLOPS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9BB-40F1-BEBC-9A60598E7C1F}"/>
                </c:ext>
              </c:extLst>
            </c:dLbl>
            <c:dLbl>
              <c:idx val="7"/>
              <c:layout>
                <c:manualLayout>
                  <c:x val="-2.5000000000000001E-2"/>
                  <c:y val="1.8749998846579796E-2"/>
                </c:manualLayout>
              </c:layout>
              <c:tx>
                <c:rich>
                  <a:bodyPr/>
                  <a:lstStyle/>
                  <a:p>
                    <a:r>
                      <a:rPr lang="en-US" sz="1197" b="0" i="0" u="none" strike="noStrike" baseline="0" dirty="0"/>
                      <a:t>21 TFLOPS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9BB-40F1-BEBC-9A60598E7C1F}"/>
                </c:ext>
              </c:extLst>
            </c:dLbl>
            <c:dLbl>
              <c:idx val="8"/>
              <c:layout>
                <c:manualLayout>
                  <c:x val="0"/>
                  <c:y val="2.759026369507327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104.8</a:t>
                    </a:r>
                    <a:r>
                      <a:rPr lang="en-US" baseline="0"/>
                      <a:t> TFLOPS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9BB-40F1-BEBC-9A60598E7C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ENIAC (1945)</c:v>
                </c:pt>
                <c:pt idx="1">
                  <c:v>IBM 704 (1954)</c:v>
                </c:pt>
                <c:pt idx="2">
                  <c:v>Cray-1 (1976)</c:v>
                </c:pt>
                <c:pt idx="3">
                  <c:v>Apple II (1977)</c:v>
                </c:pt>
                <c:pt idx="4">
                  <c:v>Intel 80386 PC (1985)</c:v>
                </c:pt>
                <c:pt idx="5">
                  <c:v>Pentium III (1999)</c:v>
                </c:pt>
                <c:pt idx="6">
                  <c:v>NVIDIA GTX 1080 (2016)</c:v>
                </c:pt>
                <c:pt idx="7">
                  <c:v>Apple M1 Ultra (2022)</c:v>
                </c:pt>
                <c:pt idx="8">
                  <c:v>RTX 5090 (2025)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5000</c:v>
                </c:pt>
                <c:pt idx="1">
                  <c:v>400000</c:v>
                </c:pt>
                <c:pt idx="2">
                  <c:v>80000000</c:v>
                </c:pt>
                <c:pt idx="3">
                  <c:v>500000</c:v>
                </c:pt>
                <c:pt idx="4">
                  <c:v>500000</c:v>
                </c:pt>
                <c:pt idx="5">
                  <c:v>2000000000</c:v>
                </c:pt>
                <c:pt idx="6">
                  <c:v>8900000000000</c:v>
                </c:pt>
                <c:pt idx="7">
                  <c:v>21000000000000</c:v>
                </c:pt>
                <c:pt idx="8">
                  <c:v>104800000000000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BB-40F1-BEBC-9A60598E7C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ENIAC (1945)</c:v>
                </c:pt>
                <c:pt idx="1">
                  <c:v>IBM 704 (1954)</c:v>
                </c:pt>
                <c:pt idx="2">
                  <c:v>Cray-1 (1976)</c:v>
                </c:pt>
                <c:pt idx="3">
                  <c:v>Apple II (1977)</c:v>
                </c:pt>
                <c:pt idx="4">
                  <c:v>Intel 80386 PC (1985)</c:v>
                </c:pt>
                <c:pt idx="5">
                  <c:v>Pentium III (1999)</c:v>
                </c:pt>
                <c:pt idx="6">
                  <c:v>NVIDIA GTX 1080 (2016)</c:v>
                </c:pt>
                <c:pt idx="7">
                  <c:v>Apple M1 Ultra (2022)</c:v>
                </c:pt>
                <c:pt idx="8">
                  <c:v>RTX 5090 (2025)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BB-40F1-BEBC-9A60598E7C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ENIAC (1945)</c:v>
                </c:pt>
                <c:pt idx="1">
                  <c:v>IBM 704 (1954)</c:v>
                </c:pt>
                <c:pt idx="2">
                  <c:v>Cray-1 (1976)</c:v>
                </c:pt>
                <c:pt idx="3">
                  <c:v>Apple II (1977)</c:v>
                </c:pt>
                <c:pt idx="4">
                  <c:v>Intel 80386 PC (1985)</c:v>
                </c:pt>
                <c:pt idx="5">
                  <c:v>Pentium III (1999)</c:v>
                </c:pt>
                <c:pt idx="6">
                  <c:v>NVIDIA GTX 1080 (2016)</c:v>
                </c:pt>
                <c:pt idx="7">
                  <c:v>Apple M1 Ultra (2022)</c:v>
                </c:pt>
                <c:pt idx="8">
                  <c:v>RTX 5090 (2025)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BB-40F1-BEBC-9A60598E7C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2271535"/>
        <c:axId val="712273455"/>
      </c:lineChart>
      <c:catAx>
        <c:axId val="712271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273455"/>
        <c:crosses val="autoZero"/>
        <c:auto val="1"/>
        <c:lblAlgn val="ctr"/>
        <c:lblOffset val="100"/>
        <c:noMultiLvlLbl val="0"/>
      </c:catAx>
      <c:valAx>
        <c:axId val="712273455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271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CB0184-A2F8-43FC-ABE3-52EFFC480C4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621994-B7E8-451C-9BE4-47A118177271}">
      <dgm:prSet phldrT="[Text]"/>
      <dgm:spPr/>
      <dgm:t>
        <a:bodyPr/>
        <a:lstStyle/>
        <a:p>
          <a:pPr algn="ctr"/>
          <a:r>
            <a:rPr lang="en-US" dirty="0">
              <a:solidFill>
                <a:schemeClr val="bg1"/>
              </a:solidFill>
            </a:rPr>
            <a:t>The very first computer built in 1945 using vacuum tubes. The computer’s size was as big as a room.</a:t>
          </a:r>
        </a:p>
      </dgm:t>
    </dgm:pt>
    <dgm:pt modelId="{F256EB57-27B9-4A7E-94D5-ADE83FEE94BE}" type="parTrans" cxnId="{69B91ACB-0EAD-4DF7-805B-D6F6B5AB22C2}">
      <dgm:prSet/>
      <dgm:spPr/>
      <dgm:t>
        <a:bodyPr/>
        <a:lstStyle/>
        <a:p>
          <a:endParaRPr lang="en-US"/>
        </a:p>
      </dgm:t>
    </dgm:pt>
    <dgm:pt modelId="{7F2D7311-28B8-47EE-B42D-83781ED166E9}" type="sibTrans" cxnId="{69B91ACB-0EAD-4DF7-805B-D6F6B5AB22C2}">
      <dgm:prSet/>
      <dgm:spPr/>
      <dgm:t>
        <a:bodyPr/>
        <a:lstStyle/>
        <a:p>
          <a:endParaRPr lang="en-US"/>
        </a:p>
      </dgm:t>
    </dgm:pt>
    <dgm:pt modelId="{801B6D96-6DAB-4B6A-861F-9A600EBDFA0D}">
      <dgm:prSet phldrT="[Text]"/>
      <dgm:spPr/>
      <dgm:t>
        <a:bodyPr/>
        <a:lstStyle/>
        <a:p>
          <a:pPr algn="ctr">
            <a:buNone/>
          </a:pPr>
          <a:r>
            <a:rPr lang="en-US" b="0" dirty="0"/>
            <a:t>Apple II (1977)</a:t>
          </a:r>
        </a:p>
      </dgm:t>
    </dgm:pt>
    <dgm:pt modelId="{11CE822B-EC2E-4AE6-8BF7-40C973E4877E}" type="parTrans" cxnId="{8DA91DCE-A547-4D19-A06D-4A53BE422F4A}">
      <dgm:prSet/>
      <dgm:spPr/>
      <dgm:t>
        <a:bodyPr/>
        <a:lstStyle/>
        <a:p>
          <a:endParaRPr lang="en-US"/>
        </a:p>
      </dgm:t>
    </dgm:pt>
    <dgm:pt modelId="{5ACE42FF-64E5-44C5-8364-55466531A5DA}" type="sibTrans" cxnId="{8DA91DCE-A547-4D19-A06D-4A53BE422F4A}">
      <dgm:prSet/>
      <dgm:spPr/>
      <dgm:t>
        <a:bodyPr/>
        <a:lstStyle/>
        <a:p>
          <a:endParaRPr lang="en-US"/>
        </a:p>
      </dgm:t>
    </dgm:pt>
    <dgm:pt modelId="{AC3A20A2-8487-4EFB-A5F4-D467BC642B3D}">
      <dgm:prSet phldrT="[Text]"/>
      <dgm:spPr/>
      <dgm:t>
        <a:bodyPr/>
        <a:lstStyle/>
        <a:p>
          <a:pPr algn="ctr"/>
          <a:r>
            <a:rPr lang="en-US" dirty="0">
              <a:solidFill>
                <a:schemeClr val="bg1"/>
              </a:solidFill>
            </a:rPr>
            <a:t>The very first widely commercial desktop computer for the ordinary population made by Apple.</a:t>
          </a:r>
          <a:endParaRPr lang="en-US" b="0" dirty="0">
            <a:solidFill>
              <a:schemeClr val="bg1"/>
            </a:solidFill>
          </a:endParaRPr>
        </a:p>
      </dgm:t>
    </dgm:pt>
    <dgm:pt modelId="{B0F59307-D096-427D-AD92-0D3566AE6869}" type="parTrans" cxnId="{F6121872-743E-4FC9-B662-8CF9C03D6C05}">
      <dgm:prSet/>
      <dgm:spPr/>
      <dgm:t>
        <a:bodyPr/>
        <a:lstStyle/>
        <a:p>
          <a:endParaRPr lang="en-US"/>
        </a:p>
      </dgm:t>
    </dgm:pt>
    <dgm:pt modelId="{7F55EBF0-46DC-4625-9292-79A1573A6AEE}" type="sibTrans" cxnId="{F6121872-743E-4FC9-B662-8CF9C03D6C05}">
      <dgm:prSet/>
      <dgm:spPr/>
      <dgm:t>
        <a:bodyPr/>
        <a:lstStyle/>
        <a:p>
          <a:endParaRPr lang="en-US"/>
        </a:p>
      </dgm:t>
    </dgm:pt>
    <dgm:pt modelId="{F8D6BFA3-5B91-4C2F-BA4E-A07FCC4C92F6}">
      <dgm:prSet phldrT="[Text]"/>
      <dgm:spPr/>
      <dgm:t>
        <a:bodyPr/>
        <a:lstStyle/>
        <a:p>
          <a:r>
            <a:rPr lang="en-US" dirty="0"/>
            <a:t>Modern Desktop</a:t>
          </a:r>
        </a:p>
      </dgm:t>
    </dgm:pt>
    <dgm:pt modelId="{86778AE1-A282-412C-9603-FF7D5BB5BE9C}" type="parTrans" cxnId="{5A598294-BE85-4A37-91E6-C432F3EAD546}">
      <dgm:prSet/>
      <dgm:spPr/>
      <dgm:t>
        <a:bodyPr/>
        <a:lstStyle/>
        <a:p>
          <a:endParaRPr lang="en-US"/>
        </a:p>
      </dgm:t>
    </dgm:pt>
    <dgm:pt modelId="{6786DD6D-4F79-4C97-9615-A6465D4DBBC5}" type="sibTrans" cxnId="{5A598294-BE85-4A37-91E6-C432F3EAD546}">
      <dgm:prSet/>
      <dgm:spPr/>
      <dgm:t>
        <a:bodyPr/>
        <a:lstStyle/>
        <a:p>
          <a:endParaRPr lang="en-US"/>
        </a:p>
      </dgm:t>
    </dgm:pt>
    <dgm:pt modelId="{61C0631E-1C8A-4869-85D0-1AE424D2A288}">
      <dgm:prSet phldrT="[Text]"/>
      <dgm:spPr/>
      <dgm:t>
        <a:bodyPr/>
        <a:lstStyle/>
        <a:p>
          <a:pPr algn="ctr"/>
          <a:r>
            <a:rPr lang="en-US" dirty="0">
              <a:solidFill>
                <a:schemeClr val="bg1"/>
              </a:solidFill>
            </a:rPr>
            <a:t>Modern desktop computers can be custom built to user’s preferences, needs and budget. </a:t>
          </a:r>
        </a:p>
      </dgm:t>
    </dgm:pt>
    <dgm:pt modelId="{2FF5214A-74A4-4E60-9DED-3EACFBBFD331}" type="parTrans" cxnId="{98455EFF-288B-42E6-927F-761E884F9125}">
      <dgm:prSet/>
      <dgm:spPr/>
      <dgm:t>
        <a:bodyPr/>
        <a:lstStyle/>
        <a:p>
          <a:endParaRPr lang="en-US"/>
        </a:p>
      </dgm:t>
    </dgm:pt>
    <dgm:pt modelId="{CD6C84C2-DF8B-4902-B241-CA17AECA585A}" type="sibTrans" cxnId="{98455EFF-288B-42E6-927F-761E884F9125}">
      <dgm:prSet/>
      <dgm:spPr/>
      <dgm:t>
        <a:bodyPr/>
        <a:lstStyle/>
        <a:p>
          <a:endParaRPr lang="en-US"/>
        </a:p>
      </dgm:t>
    </dgm:pt>
    <dgm:pt modelId="{C8D1782D-0930-4C33-A689-272042FAD498}">
      <dgm:prSet phldrT="[Text]"/>
      <dgm:spPr/>
      <dgm:t>
        <a:bodyPr/>
        <a:lstStyle/>
        <a:p>
          <a:pPr algn="ctr"/>
          <a:r>
            <a:rPr lang="en-US" dirty="0"/>
            <a:t>ENIAC</a:t>
          </a:r>
        </a:p>
      </dgm:t>
    </dgm:pt>
    <dgm:pt modelId="{4796B216-BFDA-4A2C-9A2C-58330EC48861}" type="sibTrans" cxnId="{02BA659B-5968-42A3-A92A-C2F243FB896C}">
      <dgm:prSet/>
      <dgm:spPr/>
      <dgm:t>
        <a:bodyPr/>
        <a:lstStyle/>
        <a:p>
          <a:endParaRPr lang="en-US"/>
        </a:p>
      </dgm:t>
    </dgm:pt>
    <dgm:pt modelId="{3ECE7CD1-D4AD-4544-8A0C-9C8958B6F85F}" type="parTrans" cxnId="{02BA659B-5968-42A3-A92A-C2F243FB896C}">
      <dgm:prSet/>
      <dgm:spPr/>
      <dgm:t>
        <a:bodyPr/>
        <a:lstStyle/>
        <a:p>
          <a:endParaRPr lang="en-US"/>
        </a:p>
      </dgm:t>
    </dgm:pt>
    <dgm:pt modelId="{AD0A9DF4-E75E-42C5-A6A4-06AFD9C8871D}">
      <dgm:prSet phldrT="[Text]"/>
      <dgm:spPr/>
      <dgm:t>
        <a:bodyPr/>
        <a:lstStyle/>
        <a:p>
          <a:pPr algn="ctr"/>
          <a:r>
            <a:rPr lang="en-US" dirty="0">
              <a:solidFill>
                <a:schemeClr val="bg1"/>
              </a:solidFill>
            </a:rPr>
            <a:t>Costing </a:t>
          </a:r>
          <a:r>
            <a:rPr lang="en-US" b="0" dirty="0">
              <a:solidFill>
                <a:schemeClr val="bg1"/>
              </a:solidFill>
            </a:rPr>
            <a:t>$1,298 in 1977 ≈ about $6,200 today (2025)</a:t>
          </a:r>
        </a:p>
      </dgm:t>
    </dgm:pt>
    <dgm:pt modelId="{96C2AAB6-0DBD-425C-AC70-291055297B80}" type="parTrans" cxnId="{D7CA6B7A-51A3-45A1-81D7-337EF2829E8E}">
      <dgm:prSet/>
      <dgm:spPr/>
      <dgm:t>
        <a:bodyPr/>
        <a:lstStyle/>
        <a:p>
          <a:endParaRPr lang="en-US"/>
        </a:p>
      </dgm:t>
    </dgm:pt>
    <dgm:pt modelId="{DF2C3C7B-03C4-40C0-ADDF-AAEA7B73AAAF}" type="sibTrans" cxnId="{D7CA6B7A-51A3-45A1-81D7-337EF2829E8E}">
      <dgm:prSet/>
      <dgm:spPr/>
      <dgm:t>
        <a:bodyPr/>
        <a:lstStyle/>
        <a:p>
          <a:endParaRPr lang="en-US"/>
        </a:p>
      </dgm:t>
    </dgm:pt>
    <dgm:pt modelId="{BA52EE6E-FBFB-4589-9B26-89EC44A73FF6}">
      <dgm:prSet phldrT="[Text]"/>
      <dgm:spPr/>
      <dgm:t>
        <a:bodyPr/>
        <a:lstStyle/>
        <a:p>
          <a:pPr algn="ctr"/>
          <a:r>
            <a:rPr lang="en-US" b="0" i="0" dirty="0">
              <a:solidFill>
                <a:schemeClr val="bg1"/>
              </a:solidFill>
            </a:rPr>
            <a:t>It costed $500,000 in 1945 </a:t>
          </a:r>
          <a:r>
            <a:rPr lang="en-US" b="0" dirty="0">
              <a:solidFill>
                <a:schemeClr val="bg1"/>
              </a:solidFill>
            </a:rPr>
            <a:t>≈</a:t>
          </a:r>
          <a:r>
            <a:rPr lang="en-US" b="0" i="0" dirty="0">
              <a:solidFill>
                <a:schemeClr val="bg1"/>
              </a:solidFill>
            </a:rPr>
            <a:t> $7–8 million today.</a:t>
          </a:r>
          <a:endParaRPr lang="en-US" dirty="0">
            <a:solidFill>
              <a:schemeClr val="bg1"/>
            </a:solidFill>
          </a:endParaRPr>
        </a:p>
      </dgm:t>
    </dgm:pt>
    <dgm:pt modelId="{DCAA6D1D-8ACA-4357-ADDE-1301100E614F}" type="parTrans" cxnId="{28E60251-EC2D-45AD-AC9E-C5D722C51E9E}">
      <dgm:prSet/>
      <dgm:spPr/>
      <dgm:t>
        <a:bodyPr/>
        <a:lstStyle/>
        <a:p>
          <a:endParaRPr lang="en-US"/>
        </a:p>
      </dgm:t>
    </dgm:pt>
    <dgm:pt modelId="{1EB65C7B-7BAC-45C6-BD5E-B8EDA98DA959}" type="sibTrans" cxnId="{28E60251-EC2D-45AD-AC9E-C5D722C51E9E}">
      <dgm:prSet/>
      <dgm:spPr/>
      <dgm:t>
        <a:bodyPr/>
        <a:lstStyle/>
        <a:p>
          <a:endParaRPr lang="en-US"/>
        </a:p>
      </dgm:t>
    </dgm:pt>
    <dgm:pt modelId="{64D227F7-228C-4FA6-9F94-BA8B9CAEAE98}">
      <dgm:prSet phldrT="[Text]"/>
      <dgm:spPr/>
      <dgm:t>
        <a:bodyPr/>
        <a:lstStyle/>
        <a:p>
          <a:pPr algn="ctr"/>
          <a:r>
            <a:rPr lang="en-US" dirty="0">
              <a:solidFill>
                <a:schemeClr val="bg1"/>
              </a:solidFill>
            </a:rPr>
            <a:t>Can cost anywhere from 60$ to thousands of dollars depending on components.</a:t>
          </a:r>
        </a:p>
      </dgm:t>
    </dgm:pt>
    <dgm:pt modelId="{2C9FDBC5-B5D5-4ADF-ABCC-74D9EC0D8CA0}" type="parTrans" cxnId="{D1F1DB74-385A-4FD2-BF79-D1776FF9706C}">
      <dgm:prSet/>
      <dgm:spPr/>
      <dgm:t>
        <a:bodyPr/>
        <a:lstStyle/>
        <a:p>
          <a:endParaRPr lang="en-US"/>
        </a:p>
      </dgm:t>
    </dgm:pt>
    <dgm:pt modelId="{20679110-5024-415E-8DD0-E5F6ABCEDADA}" type="sibTrans" cxnId="{D1F1DB74-385A-4FD2-BF79-D1776FF9706C}">
      <dgm:prSet/>
      <dgm:spPr/>
      <dgm:t>
        <a:bodyPr/>
        <a:lstStyle/>
        <a:p>
          <a:endParaRPr lang="en-US"/>
        </a:p>
      </dgm:t>
    </dgm:pt>
    <dgm:pt modelId="{75413048-93EA-4C82-B442-5424378C0F1B}" type="pres">
      <dgm:prSet presAssocID="{CCCB0184-A2F8-43FC-ABE3-52EFFC480C4B}" presName="linearFlow" presStyleCnt="0">
        <dgm:presLayoutVars>
          <dgm:dir/>
          <dgm:animLvl val="lvl"/>
          <dgm:resizeHandles val="exact"/>
        </dgm:presLayoutVars>
      </dgm:prSet>
      <dgm:spPr/>
    </dgm:pt>
    <dgm:pt modelId="{C006271C-9830-4377-9FA9-353B6970BDD3}" type="pres">
      <dgm:prSet presAssocID="{C8D1782D-0930-4C33-A689-272042FAD498}" presName="composite" presStyleCnt="0"/>
      <dgm:spPr/>
    </dgm:pt>
    <dgm:pt modelId="{4C23CCE4-EA6B-464F-BA10-BC3265F42AD8}" type="pres">
      <dgm:prSet presAssocID="{C8D1782D-0930-4C33-A689-272042FAD49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4DCEC27-6D35-47CD-9A37-EAA7D1A71869}" type="pres">
      <dgm:prSet presAssocID="{C8D1782D-0930-4C33-A689-272042FAD498}" presName="parSh" presStyleLbl="node1" presStyleIdx="0" presStyleCnt="3"/>
      <dgm:spPr/>
    </dgm:pt>
    <dgm:pt modelId="{F88CE5F1-8FE0-4DEA-B166-EB855323B58A}" type="pres">
      <dgm:prSet presAssocID="{C8D1782D-0930-4C33-A689-272042FAD498}" presName="desTx" presStyleLbl="fgAcc1" presStyleIdx="0" presStyleCnt="3" custScaleX="104791">
        <dgm:presLayoutVars>
          <dgm:bulletEnabled val="1"/>
        </dgm:presLayoutVars>
      </dgm:prSet>
      <dgm:spPr/>
    </dgm:pt>
    <dgm:pt modelId="{CA16250C-7FB5-40B1-969E-29F6EC6E9FDC}" type="pres">
      <dgm:prSet presAssocID="{4796B216-BFDA-4A2C-9A2C-58330EC48861}" presName="sibTrans" presStyleLbl="sibTrans2D1" presStyleIdx="0" presStyleCnt="2"/>
      <dgm:spPr/>
    </dgm:pt>
    <dgm:pt modelId="{73A9CCB3-F60C-4DB1-A140-2A4702E3414D}" type="pres">
      <dgm:prSet presAssocID="{4796B216-BFDA-4A2C-9A2C-58330EC48861}" presName="connTx" presStyleLbl="sibTrans2D1" presStyleIdx="0" presStyleCnt="2"/>
      <dgm:spPr/>
    </dgm:pt>
    <dgm:pt modelId="{B0676310-B53A-4AC8-AE88-6302A4E5361C}" type="pres">
      <dgm:prSet presAssocID="{801B6D96-6DAB-4B6A-861F-9A600EBDFA0D}" presName="composite" presStyleCnt="0"/>
      <dgm:spPr/>
    </dgm:pt>
    <dgm:pt modelId="{0F0496E3-07E2-49F7-8609-88A8A748AD05}" type="pres">
      <dgm:prSet presAssocID="{801B6D96-6DAB-4B6A-861F-9A600EBDFA0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99122FF-880F-4F14-90F6-1AB9B0A41222}" type="pres">
      <dgm:prSet presAssocID="{801B6D96-6DAB-4B6A-861F-9A600EBDFA0D}" presName="parSh" presStyleLbl="node1" presStyleIdx="1" presStyleCnt="3"/>
      <dgm:spPr/>
    </dgm:pt>
    <dgm:pt modelId="{31C54A91-B2FC-4334-AF0D-43523BD73C57}" type="pres">
      <dgm:prSet presAssocID="{801B6D96-6DAB-4B6A-861F-9A600EBDFA0D}" presName="desTx" presStyleLbl="fgAcc1" presStyleIdx="1" presStyleCnt="3">
        <dgm:presLayoutVars>
          <dgm:bulletEnabled val="1"/>
        </dgm:presLayoutVars>
      </dgm:prSet>
      <dgm:spPr/>
    </dgm:pt>
    <dgm:pt modelId="{6F903E3B-3E88-484C-B229-1105D120B37C}" type="pres">
      <dgm:prSet presAssocID="{5ACE42FF-64E5-44C5-8364-55466531A5DA}" presName="sibTrans" presStyleLbl="sibTrans2D1" presStyleIdx="1" presStyleCnt="2"/>
      <dgm:spPr/>
    </dgm:pt>
    <dgm:pt modelId="{1956B4F5-3A0A-469B-8C9F-AAD8A70350F1}" type="pres">
      <dgm:prSet presAssocID="{5ACE42FF-64E5-44C5-8364-55466531A5DA}" presName="connTx" presStyleLbl="sibTrans2D1" presStyleIdx="1" presStyleCnt="2"/>
      <dgm:spPr/>
    </dgm:pt>
    <dgm:pt modelId="{135D8FC7-E6BF-4F32-9C6C-E9C127618C93}" type="pres">
      <dgm:prSet presAssocID="{F8D6BFA3-5B91-4C2F-BA4E-A07FCC4C92F6}" presName="composite" presStyleCnt="0"/>
      <dgm:spPr/>
    </dgm:pt>
    <dgm:pt modelId="{92BD9102-3571-4E47-8E00-BEFEE6C428B7}" type="pres">
      <dgm:prSet presAssocID="{F8D6BFA3-5B91-4C2F-BA4E-A07FCC4C92F6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10F6D99-250E-4A30-82B1-86BE07260D86}" type="pres">
      <dgm:prSet presAssocID="{F8D6BFA3-5B91-4C2F-BA4E-A07FCC4C92F6}" presName="parSh" presStyleLbl="node1" presStyleIdx="2" presStyleCnt="3" custScaleX="107520"/>
      <dgm:spPr/>
    </dgm:pt>
    <dgm:pt modelId="{9A603D1E-F010-4D5F-8305-08BDFC59B57A}" type="pres">
      <dgm:prSet presAssocID="{F8D6BFA3-5B91-4C2F-BA4E-A07FCC4C92F6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15F3C09-72DF-4FEC-A23C-2BF95CBA8A5F}" type="presOf" srcId="{64D227F7-228C-4FA6-9F94-BA8B9CAEAE98}" destId="{9A603D1E-F010-4D5F-8305-08BDFC59B57A}" srcOrd="0" destOrd="1" presId="urn:microsoft.com/office/officeart/2005/8/layout/process3"/>
    <dgm:cxn modelId="{FC624618-A084-4DB5-8951-CF11DBAB64F8}" type="presOf" srcId="{08621994-B7E8-451C-9BE4-47A118177271}" destId="{F88CE5F1-8FE0-4DEA-B166-EB855323B58A}" srcOrd="0" destOrd="0" presId="urn:microsoft.com/office/officeart/2005/8/layout/process3"/>
    <dgm:cxn modelId="{EBF38937-5DF3-4387-99E7-5886814AAEF7}" type="presOf" srcId="{F8D6BFA3-5B91-4C2F-BA4E-A07FCC4C92F6}" destId="{92BD9102-3571-4E47-8E00-BEFEE6C428B7}" srcOrd="0" destOrd="0" presId="urn:microsoft.com/office/officeart/2005/8/layout/process3"/>
    <dgm:cxn modelId="{6CD51C40-8A33-4166-96D9-5970C072D4AC}" type="presOf" srcId="{801B6D96-6DAB-4B6A-861F-9A600EBDFA0D}" destId="{0F0496E3-07E2-49F7-8609-88A8A748AD05}" srcOrd="0" destOrd="0" presId="urn:microsoft.com/office/officeart/2005/8/layout/process3"/>
    <dgm:cxn modelId="{71E0535C-105C-4990-B3DA-43C03027A45D}" type="presOf" srcId="{F8D6BFA3-5B91-4C2F-BA4E-A07FCC4C92F6}" destId="{910F6D99-250E-4A30-82B1-86BE07260D86}" srcOrd="1" destOrd="0" presId="urn:microsoft.com/office/officeart/2005/8/layout/process3"/>
    <dgm:cxn modelId="{DEC1A843-B627-478F-AF95-F70485929DDC}" type="presOf" srcId="{5ACE42FF-64E5-44C5-8364-55466531A5DA}" destId="{1956B4F5-3A0A-469B-8C9F-AAD8A70350F1}" srcOrd="1" destOrd="0" presId="urn:microsoft.com/office/officeart/2005/8/layout/process3"/>
    <dgm:cxn modelId="{D6F6214B-36CB-410C-89B5-ED7CF53F5D92}" type="presOf" srcId="{C8D1782D-0930-4C33-A689-272042FAD498}" destId="{4C23CCE4-EA6B-464F-BA10-BC3265F42AD8}" srcOrd="0" destOrd="0" presId="urn:microsoft.com/office/officeart/2005/8/layout/process3"/>
    <dgm:cxn modelId="{4B04B44B-06AD-41B0-BF7F-D2CEDCD50AEA}" type="presOf" srcId="{801B6D96-6DAB-4B6A-861F-9A600EBDFA0D}" destId="{D99122FF-880F-4F14-90F6-1AB9B0A41222}" srcOrd="1" destOrd="0" presId="urn:microsoft.com/office/officeart/2005/8/layout/process3"/>
    <dgm:cxn modelId="{28E60251-EC2D-45AD-AC9E-C5D722C51E9E}" srcId="{C8D1782D-0930-4C33-A689-272042FAD498}" destId="{BA52EE6E-FBFB-4589-9B26-89EC44A73FF6}" srcOrd="1" destOrd="0" parTransId="{DCAA6D1D-8ACA-4357-ADDE-1301100E614F}" sibTransId="{1EB65C7B-7BAC-45C6-BD5E-B8EDA98DA959}"/>
    <dgm:cxn modelId="{F6121872-743E-4FC9-B662-8CF9C03D6C05}" srcId="{801B6D96-6DAB-4B6A-861F-9A600EBDFA0D}" destId="{AC3A20A2-8487-4EFB-A5F4-D467BC642B3D}" srcOrd="0" destOrd="0" parTransId="{B0F59307-D096-427D-AD92-0D3566AE6869}" sibTransId="{7F55EBF0-46DC-4625-9292-79A1573A6AEE}"/>
    <dgm:cxn modelId="{D1F1DB74-385A-4FD2-BF79-D1776FF9706C}" srcId="{F8D6BFA3-5B91-4C2F-BA4E-A07FCC4C92F6}" destId="{64D227F7-228C-4FA6-9F94-BA8B9CAEAE98}" srcOrd="1" destOrd="0" parTransId="{2C9FDBC5-B5D5-4ADF-ABCC-74D9EC0D8CA0}" sibTransId="{20679110-5024-415E-8DD0-E5F6ABCEDADA}"/>
    <dgm:cxn modelId="{FD157C75-4362-4508-8CE3-E4B153330B14}" type="presOf" srcId="{5ACE42FF-64E5-44C5-8364-55466531A5DA}" destId="{6F903E3B-3E88-484C-B229-1105D120B37C}" srcOrd="0" destOrd="0" presId="urn:microsoft.com/office/officeart/2005/8/layout/process3"/>
    <dgm:cxn modelId="{B9E71C58-EA95-45AA-BB82-F44482BA6CA6}" type="presOf" srcId="{CCCB0184-A2F8-43FC-ABE3-52EFFC480C4B}" destId="{75413048-93EA-4C82-B442-5424378C0F1B}" srcOrd="0" destOrd="0" presId="urn:microsoft.com/office/officeart/2005/8/layout/process3"/>
    <dgm:cxn modelId="{D7CA6B7A-51A3-45A1-81D7-337EF2829E8E}" srcId="{801B6D96-6DAB-4B6A-861F-9A600EBDFA0D}" destId="{AD0A9DF4-E75E-42C5-A6A4-06AFD9C8871D}" srcOrd="1" destOrd="0" parTransId="{96C2AAB6-0DBD-425C-AC70-291055297B80}" sibTransId="{DF2C3C7B-03C4-40C0-ADDF-AAEA7B73AAAF}"/>
    <dgm:cxn modelId="{5A598294-BE85-4A37-91E6-C432F3EAD546}" srcId="{CCCB0184-A2F8-43FC-ABE3-52EFFC480C4B}" destId="{F8D6BFA3-5B91-4C2F-BA4E-A07FCC4C92F6}" srcOrd="2" destOrd="0" parTransId="{86778AE1-A282-412C-9603-FF7D5BB5BE9C}" sibTransId="{6786DD6D-4F79-4C97-9615-A6465D4DBBC5}"/>
    <dgm:cxn modelId="{02BA659B-5968-42A3-A92A-C2F243FB896C}" srcId="{CCCB0184-A2F8-43FC-ABE3-52EFFC480C4B}" destId="{C8D1782D-0930-4C33-A689-272042FAD498}" srcOrd="0" destOrd="0" parTransId="{3ECE7CD1-D4AD-4544-8A0C-9C8958B6F85F}" sibTransId="{4796B216-BFDA-4A2C-9A2C-58330EC48861}"/>
    <dgm:cxn modelId="{C645CAA4-F793-4A19-9FA9-940E973335A2}" type="presOf" srcId="{AC3A20A2-8487-4EFB-A5F4-D467BC642B3D}" destId="{31C54A91-B2FC-4334-AF0D-43523BD73C57}" srcOrd="0" destOrd="0" presId="urn:microsoft.com/office/officeart/2005/8/layout/process3"/>
    <dgm:cxn modelId="{56DF2DAD-2295-4F5D-9F2B-1769F53AF0C3}" type="presOf" srcId="{4796B216-BFDA-4A2C-9A2C-58330EC48861}" destId="{CA16250C-7FB5-40B1-969E-29F6EC6E9FDC}" srcOrd="0" destOrd="0" presId="urn:microsoft.com/office/officeart/2005/8/layout/process3"/>
    <dgm:cxn modelId="{854C80B6-92D9-4136-8788-07251723F378}" type="presOf" srcId="{AD0A9DF4-E75E-42C5-A6A4-06AFD9C8871D}" destId="{31C54A91-B2FC-4334-AF0D-43523BD73C57}" srcOrd="0" destOrd="1" presId="urn:microsoft.com/office/officeart/2005/8/layout/process3"/>
    <dgm:cxn modelId="{7B5322C5-A6A9-4345-B2A2-FB2CD82F61E0}" type="presOf" srcId="{4796B216-BFDA-4A2C-9A2C-58330EC48861}" destId="{73A9CCB3-F60C-4DB1-A140-2A4702E3414D}" srcOrd="1" destOrd="0" presId="urn:microsoft.com/office/officeart/2005/8/layout/process3"/>
    <dgm:cxn modelId="{69B91ACB-0EAD-4DF7-805B-D6F6B5AB22C2}" srcId="{C8D1782D-0930-4C33-A689-272042FAD498}" destId="{08621994-B7E8-451C-9BE4-47A118177271}" srcOrd="0" destOrd="0" parTransId="{F256EB57-27B9-4A7E-94D5-ADE83FEE94BE}" sibTransId="{7F2D7311-28B8-47EE-B42D-83781ED166E9}"/>
    <dgm:cxn modelId="{8DA91DCE-A547-4D19-A06D-4A53BE422F4A}" srcId="{CCCB0184-A2F8-43FC-ABE3-52EFFC480C4B}" destId="{801B6D96-6DAB-4B6A-861F-9A600EBDFA0D}" srcOrd="1" destOrd="0" parTransId="{11CE822B-EC2E-4AE6-8BF7-40C973E4877E}" sibTransId="{5ACE42FF-64E5-44C5-8364-55466531A5DA}"/>
    <dgm:cxn modelId="{379740E3-9AEF-4EA3-9421-4DA35F057DA6}" type="presOf" srcId="{61C0631E-1C8A-4869-85D0-1AE424D2A288}" destId="{9A603D1E-F010-4D5F-8305-08BDFC59B57A}" srcOrd="0" destOrd="0" presId="urn:microsoft.com/office/officeart/2005/8/layout/process3"/>
    <dgm:cxn modelId="{D82DDBE8-7558-4BA3-ABDE-AF726753B646}" type="presOf" srcId="{BA52EE6E-FBFB-4589-9B26-89EC44A73FF6}" destId="{F88CE5F1-8FE0-4DEA-B166-EB855323B58A}" srcOrd="0" destOrd="1" presId="urn:microsoft.com/office/officeart/2005/8/layout/process3"/>
    <dgm:cxn modelId="{C1A07CEB-09F6-4938-8CE7-2DC99147EFBB}" type="presOf" srcId="{C8D1782D-0930-4C33-A689-272042FAD498}" destId="{C4DCEC27-6D35-47CD-9A37-EAA7D1A71869}" srcOrd="1" destOrd="0" presId="urn:microsoft.com/office/officeart/2005/8/layout/process3"/>
    <dgm:cxn modelId="{98455EFF-288B-42E6-927F-761E884F9125}" srcId="{F8D6BFA3-5B91-4C2F-BA4E-A07FCC4C92F6}" destId="{61C0631E-1C8A-4869-85D0-1AE424D2A288}" srcOrd="0" destOrd="0" parTransId="{2FF5214A-74A4-4E60-9DED-3EACFBBFD331}" sibTransId="{CD6C84C2-DF8B-4902-B241-CA17AECA585A}"/>
    <dgm:cxn modelId="{50B56CEB-02A5-49C2-BADB-8CB89F6ADF1A}" type="presParOf" srcId="{75413048-93EA-4C82-B442-5424378C0F1B}" destId="{C006271C-9830-4377-9FA9-353B6970BDD3}" srcOrd="0" destOrd="0" presId="urn:microsoft.com/office/officeart/2005/8/layout/process3"/>
    <dgm:cxn modelId="{95B0A6E5-15F3-4103-9227-4B7A3D58A2EC}" type="presParOf" srcId="{C006271C-9830-4377-9FA9-353B6970BDD3}" destId="{4C23CCE4-EA6B-464F-BA10-BC3265F42AD8}" srcOrd="0" destOrd="0" presId="urn:microsoft.com/office/officeart/2005/8/layout/process3"/>
    <dgm:cxn modelId="{41F00561-A59D-450C-A93C-35D765259AB9}" type="presParOf" srcId="{C006271C-9830-4377-9FA9-353B6970BDD3}" destId="{C4DCEC27-6D35-47CD-9A37-EAA7D1A71869}" srcOrd="1" destOrd="0" presId="urn:microsoft.com/office/officeart/2005/8/layout/process3"/>
    <dgm:cxn modelId="{B8AB02FE-B99B-4EA7-BAE5-7BCD7FC62F11}" type="presParOf" srcId="{C006271C-9830-4377-9FA9-353B6970BDD3}" destId="{F88CE5F1-8FE0-4DEA-B166-EB855323B58A}" srcOrd="2" destOrd="0" presId="urn:microsoft.com/office/officeart/2005/8/layout/process3"/>
    <dgm:cxn modelId="{D3DCB9E6-2204-451F-9FA8-1765215C8328}" type="presParOf" srcId="{75413048-93EA-4C82-B442-5424378C0F1B}" destId="{CA16250C-7FB5-40B1-969E-29F6EC6E9FDC}" srcOrd="1" destOrd="0" presId="urn:microsoft.com/office/officeart/2005/8/layout/process3"/>
    <dgm:cxn modelId="{A56194A2-C122-47C4-B53B-2D54932852AE}" type="presParOf" srcId="{CA16250C-7FB5-40B1-969E-29F6EC6E9FDC}" destId="{73A9CCB3-F60C-4DB1-A140-2A4702E3414D}" srcOrd="0" destOrd="0" presId="urn:microsoft.com/office/officeart/2005/8/layout/process3"/>
    <dgm:cxn modelId="{41D2D5A1-C468-4DF2-B000-98CF6EAEAE6B}" type="presParOf" srcId="{75413048-93EA-4C82-B442-5424378C0F1B}" destId="{B0676310-B53A-4AC8-AE88-6302A4E5361C}" srcOrd="2" destOrd="0" presId="urn:microsoft.com/office/officeart/2005/8/layout/process3"/>
    <dgm:cxn modelId="{1AC14544-27AE-4793-BEFD-F1BC2CB69496}" type="presParOf" srcId="{B0676310-B53A-4AC8-AE88-6302A4E5361C}" destId="{0F0496E3-07E2-49F7-8609-88A8A748AD05}" srcOrd="0" destOrd="0" presId="urn:microsoft.com/office/officeart/2005/8/layout/process3"/>
    <dgm:cxn modelId="{F8306A7B-BEC3-4985-A099-185AE7302B6F}" type="presParOf" srcId="{B0676310-B53A-4AC8-AE88-6302A4E5361C}" destId="{D99122FF-880F-4F14-90F6-1AB9B0A41222}" srcOrd="1" destOrd="0" presId="urn:microsoft.com/office/officeart/2005/8/layout/process3"/>
    <dgm:cxn modelId="{429D19AB-6A61-4CC7-99FF-B88C1E6B3D91}" type="presParOf" srcId="{B0676310-B53A-4AC8-AE88-6302A4E5361C}" destId="{31C54A91-B2FC-4334-AF0D-43523BD73C57}" srcOrd="2" destOrd="0" presId="urn:microsoft.com/office/officeart/2005/8/layout/process3"/>
    <dgm:cxn modelId="{87B9B003-84D7-4B52-85D0-B2955F4E8881}" type="presParOf" srcId="{75413048-93EA-4C82-B442-5424378C0F1B}" destId="{6F903E3B-3E88-484C-B229-1105D120B37C}" srcOrd="3" destOrd="0" presId="urn:microsoft.com/office/officeart/2005/8/layout/process3"/>
    <dgm:cxn modelId="{8556540B-3F1B-4D83-86B7-9C558EFD9347}" type="presParOf" srcId="{6F903E3B-3E88-484C-B229-1105D120B37C}" destId="{1956B4F5-3A0A-469B-8C9F-AAD8A70350F1}" srcOrd="0" destOrd="0" presId="urn:microsoft.com/office/officeart/2005/8/layout/process3"/>
    <dgm:cxn modelId="{D7037838-263D-4E09-BBD2-D91F6885628C}" type="presParOf" srcId="{75413048-93EA-4C82-B442-5424378C0F1B}" destId="{135D8FC7-E6BF-4F32-9C6C-E9C127618C93}" srcOrd="4" destOrd="0" presId="urn:microsoft.com/office/officeart/2005/8/layout/process3"/>
    <dgm:cxn modelId="{77CCFC80-5AFA-4A62-9F7F-9C3549ADFE12}" type="presParOf" srcId="{135D8FC7-E6BF-4F32-9C6C-E9C127618C93}" destId="{92BD9102-3571-4E47-8E00-BEFEE6C428B7}" srcOrd="0" destOrd="0" presId="urn:microsoft.com/office/officeart/2005/8/layout/process3"/>
    <dgm:cxn modelId="{2CA9BBB2-2E66-4C98-8FDF-020216F6A542}" type="presParOf" srcId="{135D8FC7-E6BF-4F32-9C6C-E9C127618C93}" destId="{910F6D99-250E-4A30-82B1-86BE07260D86}" srcOrd="1" destOrd="0" presId="urn:microsoft.com/office/officeart/2005/8/layout/process3"/>
    <dgm:cxn modelId="{743A557C-0400-4B58-80B0-D5351AF2582E}" type="presParOf" srcId="{135D8FC7-E6BF-4F32-9C6C-E9C127618C93}" destId="{9A603D1E-F010-4D5F-8305-08BDFC59B57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CEC27-6D35-47CD-9A37-EAA7D1A71869}">
      <dsp:nvSpPr>
        <dsp:cNvPr id="0" name=""/>
        <dsp:cNvSpPr/>
      </dsp:nvSpPr>
      <dsp:spPr>
        <a:xfrm>
          <a:off x="8247" y="149627"/>
          <a:ext cx="2302630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ENIAC</a:t>
          </a:r>
        </a:p>
      </dsp:txBody>
      <dsp:txXfrm>
        <a:off x="8247" y="149627"/>
        <a:ext cx="2302630" cy="432000"/>
      </dsp:txXfrm>
    </dsp:sp>
    <dsp:sp modelId="{F88CE5F1-8FE0-4DEA-B166-EB855323B58A}">
      <dsp:nvSpPr>
        <dsp:cNvPr id="0" name=""/>
        <dsp:cNvSpPr/>
      </dsp:nvSpPr>
      <dsp:spPr>
        <a:xfrm>
          <a:off x="424711" y="581627"/>
          <a:ext cx="2412949" cy="253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The very first computer built in 1945 using vacuum tubes. The computer’s size was as big as a room.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bg1"/>
              </a:solidFill>
            </a:rPr>
            <a:t>It costed $500,000 in 1945 </a:t>
          </a:r>
          <a:r>
            <a:rPr lang="en-US" sz="1500" b="0" kern="1200" dirty="0">
              <a:solidFill>
                <a:schemeClr val="bg1"/>
              </a:solidFill>
            </a:rPr>
            <a:t>≈</a:t>
          </a:r>
          <a:r>
            <a:rPr lang="en-US" sz="1500" b="0" i="0" kern="1200" dirty="0">
              <a:solidFill>
                <a:schemeClr val="bg1"/>
              </a:solidFill>
            </a:rPr>
            <a:t> $7–8 million today.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495384" y="652300"/>
        <a:ext cx="2271603" cy="2396654"/>
      </dsp:txXfrm>
    </dsp:sp>
    <dsp:sp modelId="{CA16250C-7FB5-40B1-969E-29F6EC6E9FDC}">
      <dsp:nvSpPr>
        <dsp:cNvPr id="0" name=""/>
        <dsp:cNvSpPr/>
      </dsp:nvSpPr>
      <dsp:spPr>
        <a:xfrm>
          <a:off x="2673738" y="78983"/>
          <a:ext cx="769263" cy="573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673738" y="193641"/>
        <a:ext cx="597277" cy="343972"/>
      </dsp:txXfrm>
    </dsp:sp>
    <dsp:sp modelId="{D99122FF-880F-4F14-90F6-1AB9B0A41222}">
      <dsp:nvSpPr>
        <dsp:cNvPr id="0" name=""/>
        <dsp:cNvSpPr/>
      </dsp:nvSpPr>
      <dsp:spPr>
        <a:xfrm>
          <a:off x="3762319" y="149627"/>
          <a:ext cx="2302630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Apple II (1977)</a:t>
          </a:r>
        </a:p>
      </dsp:txBody>
      <dsp:txXfrm>
        <a:off x="3762319" y="149627"/>
        <a:ext cx="2302630" cy="432000"/>
      </dsp:txXfrm>
    </dsp:sp>
    <dsp:sp modelId="{31C54A91-B2FC-4334-AF0D-43523BD73C57}">
      <dsp:nvSpPr>
        <dsp:cNvPr id="0" name=""/>
        <dsp:cNvSpPr/>
      </dsp:nvSpPr>
      <dsp:spPr>
        <a:xfrm>
          <a:off x="4233942" y="581627"/>
          <a:ext cx="2302630" cy="253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The very first widely commercial desktop computer for the ordinary population made by Apple.</a:t>
          </a:r>
          <a:endParaRPr lang="en-US" sz="1500" b="0" kern="1200" dirty="0">
            <a:solidFill>
              <a:schemeClr val="bg1"/>
            </a:solidFill>
          </a:endParaRP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Costing </a:t>
          </a:r>
          <a:r>
            <a:rPr lang="en-US" sz="1500" b="0" kern="1200" dirty="0">
              <a:solidFill>
                <a:schemeClr val="bg1"/>
              </a:solidFill>
            </a:rPr>
            <a:t>$1,298 in 1977 ≈ about $6,200 today (2025)</a:t>
          </a:r>
        </a:p>
      </dsp:txBody>
      <dsp:txXfrm>
        <a:off x="4301384" y="649069"/>
        <a:ext cx="2167746" cy="2403116"/>
      </dsp:txXfrm>
    </dsp:sp>
    <dsp:sp modelId="{6F903E3B-3E88-484C-B229-1105D120B37C}">
      <dsp:nvSpPr>
        <dsp:cNvPr id="0" name=""/>
        <dsp:cNvSpPr/>
      </dsp:nvSpPr>
      <dsp:spPr>
        <a:xfrm>
          <a:off x="6414020" y="78983"/>
          <a:ext cx="740029" cy="573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414020" y="193641"/>
        <a:ext cx="568043" cy="343972"/>
      </dsp:txXfrm>
    </dsp:sp>
    <dsp:sp modelId="{910F6D99-250E-4A30-82B1-86BE07260D86}">
      <dsp:nvSpPr>
        <dsp:cNvPr id="0" name=""/>
        <dsp:cNvSpPr/>
      </dsp:nvSpPr>
      <dsp:spPr>
        <a:xfrm>
          <a:off x="7461231" y="149627"/>
          <a:ext cx="2475788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Modern Desktop</a:t>
          </a:r>
        </a:p>
      </dsp:txBody>
      <dsp:txXfrm>
        <a:off x="7461231" y="149627"/>
        <a:ext cx="2475788" cy="432000"/>
      </dsp:txXfrm>
    </dsp:sp>
    <dsp:sp modelId="{9A603D1E-F010-4D5F-8305-08BDFC59B57A}">
      <dsp:nvSpPr>
        <dsp:cNvPr id="0" name=""/>
        <dsp:cNvSpPr/>
      </dsp:nvSpPr>
      <dsp:spPr>
        <a:xfrm>
          <a:off x="8019433" y="581627"/>
          <a:ext cx="2302630" cy="253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Modern desktop computers can be custom built to user’s preferences, needs and budget. 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bg1"/>
              </a:solidFill>
            </a:rPr>
            <a:t>Can cost anywhere from 60$ to thousands of dollars depending on components.</a:t>
          </a:r>
        </a:p>
      </dsp:txBody>
      <dsp:txXfrm>
        <a:off x="8086875" y="649069"/>
        <a:ext cx="2167746" cy="2403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FDC02-623D-4E42-A062-887DD6C69E5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C4517-EDBA-4586-B829-7D3AE3DD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0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4517-EDBA-4586-B829-7D3AE3DD7E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D0607-A334-4E00-803F-74DB3712A0F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38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DA0C-D75E-447E-8133-D00A9E38BD9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ADD2-50E0-49F4-BF77-9C4100B3FDC1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B0DD-54ED-46BC-8E93-04828125F472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2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B7F1-172C-49BB-9DDB-233193C9C64F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2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1DEA6-BDED-4880-977C-2BE6EDC2089F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9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FCC9-4C0D-44B3-B045-D01619F64A9D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1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90DD-DB38-4AF9-9FC6-5C5A3E78F807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CF89-096C-46BB-92B7-67A89C4F845B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4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6312E-27A5-40B3-A626-0E8305C47359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F07D-7880-495F-89C4-5AAABFC7FF49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2155-93E5-4441-9A16-93FFBEF662DF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0153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62DFA-24BA-4E7F-AE3E-7695BE4D5556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51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E57F5-D852-4618-81AB-EDD129B7C20F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347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692D-C699-443E-9DE3-D740823121E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95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DCC-AABE-4BC2-89B0-4464BE3A29C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746F-D5E9-4E15-B76B-60BF981E754E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1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EDA2A1-59DF-459B-A1CC-3531CFB5585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15C42A1-1644-42AD-8AA6-9A94A716D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02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C58F-A407-3C14-7D5B-B2AB45478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35698"/>
          </a:xfrm>
        </p:spPr>
        <p:txBody>
          <a:bodyPr>
            <a:normAutofit/>
          </a:bodyPr>
          <a:lstStyle/>
          <a:p>
            <a:r>
              <a:rPr lang="en-US" dirty="0"/>
              <a:t>Evolution of Computers – From 1</a:t>
            </a:r>
            <a:r>
              <a:rPr lang="en-US" baseline="30000" dirty="0"/>
              <a:t>st</a:t>
            </a:r>
            <a:r>
              <a:rPr lang="en-US" dirty="0"/>
              <a:t> generation to Modern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0C3EA-285E-902D-EE5D-D5C3E39DB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52641"/>
            <a:ext cx="7085012" cy="3429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Name: Muhammad Farhan</a:t>
            </a:r>
          </a:p>
          <a:p>
            <a:r>
              <a:rPr lang="en-US" dirty="0"/>
              <a:t>Roll No: 25K-0538</a:t>
            </a:r>
          </a:p>
          <a:p>
            <a:r>
              <a:rPr lang="en-US" dirty="0"/>
              <a:t>Class: Bcs-1k</a:t>
            </a:r>
          </a:p>
          <a:p>
            <a:r>
              <a:rPr lang="en-US" dirty="0"/>
              <a:t>Course: CL1000 – Introduction to Information and Communication Technology</a:t>
            </a:r>
          </a:p>
          <a:p>
            <a:r>
              <a:rPr lang="en-US" dirty="0"/>
              <a:t>Lab: #2</a:t>
            </a:r>
          </a:p>
          <a:p>
            <a:r>
              <a:rPr lang="en-US" dirty="0"/>
              <a:t>Assignment#2</a:t>
            </a:r>
          </a:p>
          <a:p>
            <a:r>
              <a:rPr lang="en-US" dirty="0"/>
              <a:t>Course Instructor: Miss Syeda Tehreem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AB05E-F66F-B516-D30A-A7DFFCC6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13C7-BD76-4BE0-67CB-7F02A1584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3735" y="231354"/>
            <a:ext cx="6224529" cy="1230676"/>
          </a:xfrm>
        </p:spPr>
        <p:txBody>
          <a:bodyPr>
            <a:noAutofit/>
          </a:bodyPr>
          <a:lstStyle/>
          <a:p>
            <a:r>
              <a:rPr lang="en-US" sz="3600" dirty="0"/>
              <a:t>Timeline of Computer Evolution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DDF9A-91DE-32A3-E897-C31A9E8E1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642" y="1462030"/>
            <a:ext cx="11446524" cy="4949787"/>
          </a:xfrm>
        </p:spPr>
        <p:txBody>
          <a:bodyPr>
            <a:normAutofit/>
          </a:bodyPr>
          <a:lstStyle/>
          <a:p>
            <a:r>
              <a:rPr lang="en-US" sz="3200" dirty="0"/>
              <a:t>Key milestones: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1940s–1950s: 1st Gen — Vacuum tubes (ENIAC, UNIVAC)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1950s–1960s: 2nd Gen — Transistors replace vacuum tubes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1960s–1970s: 3rd Gen — Integrated Circuits (ICs)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1970s–present: 4th Gen — Microprocessors, personal computing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2010s–present: Modern AI era — GPUs, TPUs, deep learning, cloud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C9DBC-8356-2A51-28AE-2B284FE1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00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9F84-006B-A241-CC6C-186CBC68C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0"/>
            <a:ext cx="8001000" cy="1528591"/>
          </a:xfrm>
        </p:spPr>
        <p:txBody>
          <a:bodyPr>
            <a:normAutofit/>
          </a:bodyPr>
          <a:lstStyle/>
          <a:p>
            <a:r>
              <a:rPr lang="en-US" sz="3600" dirty="0"/>
              <a:t>Generations of Computers (Overview)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5E089-9ACC-1B76-E01F-0E45F5CEA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742" y="1528591"/>
            <a:ext cx="11023046" cy="4784074"/>
          </a:xfrm>
        </p:spPr>
        <p:txBody>
          <a:bodyPr>
            <a:normAutofit/>
          </a:bodyPr>
          <a:lstStyle/>
          <a:p>
            <a:r>
              <a:rPr lang="en-US" sz="3200" dirty="0"/>
              <a:t>Short summaries: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1st Gen: Used vacuum tubes, very large, slow, and required lots of electricity.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2nd Gen: Used transistors, smaller and more reliable than before.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3rd Gen: Introduced integrated circuits (chips), faster and more affordable.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4th Gen: Microprocessors led to personal computers in homes, schools, and offices.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Modern AI: Computers with smart processors, AI software, and cloud power.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81C56-54A9-E335-C0E2-6EEE55A6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34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2A89-24D7-0EAD-C3E0-51A4714D5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2034"/>
            <a:ext cx="8001000" cy="1242153"/>
          </a:xfrm>
        </p:spPr>
        <p:txBody>
          <a:bodyPr>
            <a:normAutofit/>
          </a:bodyPr>
          <a:lstStyle/>
          <a:p>
            <a:r>
              <a:rPr lang="en-US" sz="3600" dirty="0"/>
              <a:t>Modern AI and Emerging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6AFED-9375-BF60-BF62-ECBFB15C2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264187"/>
            <a:ext cx="10823576" cy="5224748"/>
          </a:xfrm>
        </p:spPr>
        <p:txBody>
          <a:bodyPr>
            <a:normAutofit/>
          </a:bodyPr>
          <a:lstStyle/>
          <a:p>
            <a:r>
              <a:rPr lang="en-US" sz="3200" dirty="0"/>
              <a:t>Trends shaping modern computing: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Software that learns from data — like AI assistants, chatbots, and image recognition.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Special processors (GPUs/TPUs) handle big tasks like AI training.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Cloud computing and edge devices allow sharing and fast processing everywhere.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Research into quantum computers and brain-like (neuromorphic) chips is ongoing.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C6122-F993-234C-F644-BBA9AC7B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09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EA04-BBA0-5E7C-EE4A-0DB977F2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860539"/>
          </a:xfrm>
        </p:spPr>
        <p:txBody>
          <a:bodyPr/>
          <a:lstStyle/>
          <a:p>
            <a:r>
              <a:rPr lang="en-US" dirty="0"/>
              <a:t>Comparison Across Generations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EC5514-D23F-8E38-7811-CBAB3EAEC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88311"/>
              </p:ext>
            </p:extLst>
          </p:nvPr>
        </p:nvGraphicFramePr>
        <p:xfrm>
          <a:off x="187287" y="1281449"/>
          <a:ext cx="11835787" cy="4295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407">
                  <a:extLst>
                    <a:ext uri="{9D8B030D-6E8A-4147-A177-3AD203B41FA5}">
                      <a16:colId xmlns:a16="http://schemas.microsoft.com/office/drawing/2014/main" val="4137325973"/>
                    </a:ext>
                  </a:extLst>
                </a:gridCol>
                <a:gridCol w="1974315">
                  <a:extLst>
                    <a:ext uri="{9D8B030D-6E8A-4147-A177-3AD203B41FA5}">
                      <a16:colId xmlns:a16="http://schemas.microsoft.com/office/drawing/2014/main" val="548250612"/>
                    </a:ext>
                  </a:extLst>
                </a:gridCol>
                <a:gridCol w="913551">
                  <a:extLst>
                    <a:ext uri="{9D8B030D-6E8A-4147-A177-3AD203B41FA5}">
                      <a16:colId xmlns:a16="http://schemas.microsoft.com/office/drawing/2014/main" val="3538035860"/>
                    </a:ext>
                  </a:extLst>
                </a:gridCol>
                <a:gridCol w="1805087">
                  <a:extLst>
                    <a:ext uri="{9D8B030D-6E8A-4147-A177-3AD203B41FA5}">
                      <a16:colId xmlns:a16="http://schemas.microsoft.com/office/drawing/2014/main" val="753128182"/>
                    </a:ext>
                  </a:extLst>
                </a:gridCol>
                <a:gridCol w="1111671">
                  <a:extLst>
                    <a:ext uri="{9D8B030D-6E8A-4147-A177-3AD203B41FA5}">
                      <a16:colId xmlns:a16="http://schemas.microsoft.com/office/drawing/2014/main" val="2889116647"/>
                    </a:ext>
                  </a:extLst>
                </a:gridCol>
                <a:gridCol w="1684016">
                  <a:extLst>
                    <a:ext uri="{9D8B030D-6E8A-4147-A177-3AD203B41FA5}">
                      <a16:colId xmlns:a16="http://schemas.microsoft.com/office/drawing/2014/main" val="2659609969"/>
                    </a:ext>
                  </a:extLst>
                </a:gridCol>
                <a:gridCol w="1474889">
                  <a:extLst>
                    <a:ext uri="{9D8B030D-6E8A-4147-A177-3AD203B41FA5}">
                      <a16:colId xmlns:a16="http://schemas.microsoft.com/office/drawing/2014/main" val="1304416652"/>
                    </a:ext>
                  </a:extLst>
                </a:gridCol>
                <a:gridCol w="1408851">
                  <a:extLst>
                    <a:ext uri="{9D8B030D-6E8A-4147-A177-3AD203B41FA5}">
                      <a16:colId xmlns:a16="http://schemas.microsoft.com/office/drawing/2014/main" val="2607328695"/>
                    </a:ext>
                  </a:extLst>
                </a:gridCol>
              </a:tblGrid>
              <a:tr h="6402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Power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34716"/>
                  </a:ext>
                </a:extLst>
              </a:tr>
              <a:tr h="67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Vacuum Tubes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Large (Room Sized)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Machine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ENIAC, UNIVAC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Extremely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198266"/>
                  </a:ext>
                </a:extLst>
              </a:tr>
              <a:tr h="6821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Transistors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Better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Smaller than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Assembly, Fortran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IBM 1401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000583"/>
                  </a:ext>
                </a:extLst>
              </a:tr>
              <a:tr h="6832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Integrated 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Medium-Sized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Level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IBM 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795160"/>
                  </a:ext>
                </a:extLst>
              </a:tr>
              <a:tr h="7041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Microprocessors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PCs and Laptops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C++,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 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Relatively Affordable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623067"/>
                  </a:ext>
                </a:extLst>
              </a:tr>
              <a:tr h="914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Modern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Processors(GPUs/TPUs)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Phones to Data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Efficient to 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Python, JavaScript, C#, AI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Systems, Cloud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38358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7E220-C379-81B6-4164-3210BCE1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21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B7756-A899-8230-109A-B1B80A166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35" y="9011"/>
            <a:ext cx="3526461" cy="2624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01858-DF58-2EEB-152F-078326CFF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110" y="0"/>
            <a:ext cx="4281889" cy="26258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30992B-3702-E272-BCF3-31BFF0E14F98}"/>
              </a:ext>
            </a:extLst>
          </p:cNvPr>
          <p:cNvSpPr txBox="1"/>
          <p:nvPr/>
        </p:nvSpPr>
        <p:spPr>
          <a:xfrm>
            <a:off x="261401" y="2624114"/>
            <a:ext cx="2941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very first Computer </a:t>
            </a:r>
            <a:r>
              <a:rPr lang="en-US" sz="1400" b="1" dirty="0"/>
              <a:t>ENIAC.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38EF3-DBB8-D7AB-7A27-47281CB23B45}"/>
              </a:ext>
            </a:extLst>
          </p:cNvPr>
          <p:cNvSpPr txBox="1"/>
          <p:nvPr/>
        </p:nvSpPr>
        <p:spPr>
          <a:xfrm>
            <a:off x="8462326" y="2624114"/>
            <a:ext cx="358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Modern Desktop Personal Computer.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1DA4-6905-6AB1-8370-0526D66C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4887B91-58B2-D565-9E16-E4013B26B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748422"/>
              </p:ext>
            </p:extLst>
          </p:nvPr>
        </p:nvGraphicFramePr>
        <p:xfrm>
          <a:off x="261401" y="3249296"/>
          <a:ext cx="10330312" cy="3269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F76EC69-B84C-8AC8-3FD0-187E2D790876}"/>
              </a:ext>
            </a:extLst>
          </p:cNvPr>
          <p:cNvSpPr txBox="1"/>
          <p:nvPr/>
        </p:nvSpPr>
        <p:spPr>
          <a:xfrm>
            <a:off x="3729675" y="2633124"/>
            <a:ext cx="3928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One of the first widely available Computer, </a:t>
            </a:r>
            <a:r>
              <a:rPr lang="en-US" sz="1400" b="1" dirty="0"/>
              <a:t>Apple II.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B6BD3-DA78-AC53-7599-FE467941C4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320" y="9011"/>
            <a:ext cx="3945846" cy="263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5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6" grpId="0">
        <p:bldAsOne/>
      </p:bldGraphic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D1AA00C-409F-38E6-D8DB-3DD7702648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3847786"/>
              </p:ext>
            </p:extLst>
          </p:nvPr>
        </p:nvGraphicFramePr>
        <p:xfrm>
          <a:off x="684213" y="264405"/>
          <a:ext cx="9814862" cy="5983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D3C5DC-4B38-BE74-612F-6D4B4BECBE63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2310289"/>
          <a:ext cx="8534400" cy="365760"/>
        </p:xfrm>
        <a:graphic>
          <a:graphicData uri="http://schemas.openxmlformats.org/drawingml/2006/table">
            <a:tbl>
              <a:tblPr/>
              <a:tblGrid>
                <a:gridCol w="8534400">
                  <a:extLst>
                    <a:ext uri="{9D8B030D-6E8A-4147-A177-3AD203B41FA5}">
                      <a16:colId xmlns:a16="http://schemas.microsoft.com/office/drawing/2014/main" val="2079488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011732"/>
                  </a:ext>
                </a:extLst>
              </a:tr>
            </a:tbl>
          </a:graphicData>
        </a:graphic>
      </p:graphicFrame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4C10120-8189-7FEF-35C5-6FEC4A07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42A1-1644-42AD-8AA6-9A94A716D1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6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222</TotalTime>
  <Words>531</Words>
  <Application>Microsoft Office PowerPoint</Application>
  <PresentationFormat>Widescreen</PresentationFormat>
  <Paragraphs>107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Slice</vt:lpstr>
      <vt:lpstr>Evolution of Computers – From 1st generation to Modern AI</vt:lpstr>
      <vt:lpstr>Timeline of Computer Evolution</vt:lpstr>
      <vt:lpstr>Generations of Computers (Overview)</vt:lpstr>
      <vt:lpstr>Modern AI and Emerging Trends</vt:lpstr>
      <vt:lpstr>Comparison Across Generations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Farhan</dc:creator>
  <cp:lastModifiedBy>Mohammad Farhan</cp:lastModifiedBy>
  <cp:revision>4</cp:revision>
  <dcterms:created xsi:type="dcterms:W3CDTF">2025-09-06T11:33:48Z</dcterms:created>
  <dcterms:modified xsi:type="dcterms:W3CDTF">2025-09-08T04:29:15Z</dcterms:modified>
</cp:coreProperties>
</file>